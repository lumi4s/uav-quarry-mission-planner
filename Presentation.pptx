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5" d="100"/>
          <a:sy n="115" d="100"/>
        </p:scale>
        <p:origin x="70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6/16/2026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Добрый день. Представляю дипломный проект по программе «Беспилотные робототехнические системы», посвящённый оптимизации маршрутов беспилотных летательных аппаратов для проведения карьерной съёмки. В работе рассматриваются современные подходы к планированию полётов, позволяющие повысить эффективность аэрофотосъёмки и качество получаемых данных. Защита проекта проходит в 2025 году.</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На слайде представлена ключевая проблема проекта. Ручное планирование полётов БПЛА для аэрофотосъёмки карьеров занимает много времени и приводит к неточностям. Параметры съёмки подбираются интуитивно, отсутствуют автоматические расчёты времени и расхода батареи. Это создаёт риск разрядки аппарата в воздухе и потери дорогостоящего оборудования.</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На этом слайде представлена основная цель проекта и ключевые задачи для её достижения. Цель заключается в создании программного инструмента, который автоматизирует подготовку полётных миссий беспилотных летательных аппаратов для аэрофотосъёмки карьеров. Для достижения этой цели определены семь основных задач: от генерации сетки точек съёмки и построения оптимального маршрута до формирования файла миссии и предоставления REST API для интеграции с наземными станциями.</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На этом слайде представлен технологический стек проекта. Backend построен на Python 3.11 с использованием FastAPI для REST API, Pydantic для валидации данных и Uvicorn в качестве ASGI-сервера. Для геометрических операций применяется Shapely, векторизованные вычисления выполняются через NumPy, а визуализация маршрутов реализована с помощью Matplotlib.</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На этом слайде представлена полная архитектура системы планирования полётов. Процесс начинается с POST-запроса пользователя и проходит через несколько этапов обработки: валидацию данных через Pydantic, построение геометрии карьера с помощью Shapely, расчёты на NumPy, генерацию точек съёмки и оптимизацию маршрута алгоритмами Nearest Neighbor и 2-opt. В завершение система рассчитывает параметры миссии и возвращает результат пользователю в виде JSON-ответа и сохранённых файлов.</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На слайде представлены три ключевых компонента алгоритма планирования маршрута. Сначала рассчитывается сетка точек съёмки по формулам footprint и step с учётом параметров камеры DJI Mavic 3 Enterprise. Затем жадный алгоритм Nearest Neighbor строит начальный маршрут от юго-западного угла карьера. Финальный этап — оптимизация методом 2-opt, устраняющая пересечения путём разворота участков, до 200 итераций.</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На этом слайде представлены результаты визуализации маршрута тестовой миссии. Параметры включают прямоугольный карьер размером сто на сто метров, высоту полёта сто двадцать метров, скорость двенадцать метров в секунду и перекрытие снимков семьдесят процентов. На карте синие точки обозначают узлы сетки съёмки, красная линия показывает маршрут облёта, зелёная звезда отмечает точку старта, а красный крест — точку финиша.</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На этом слайде сравниваются два варианта перекрытия снимков при аэрофотосъёмке. Перекрытие 70 процентов даёт экономию времени и заряда батареи, но качество 3D-модели будет ниже. Перекрытие 85 процентов требует больше ресурсов, однако обеспечивает существенно лучшую детализацию итоговой модели. На тестовом карьере при таком перекрытии было получено 20 точек съёмки. Выбор зависит от задачи: для оперативного обзора подходит 70 процентов, для детального моделирования рекомендуется 85 процентов.</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На этом слайде представлена демонстрация работы REST API. Swagger UI обеспечивает автоматическую документацию и доступен по локальному адресу. Мы показываем форму запроса на генерацию миссии и получаемый JSON-ответ, который содержит маршрут, время полёта, расход батареи и количество снимков. В качестве примера приводится ответ с длиной маршрута 202.99 метра, расходом 0.28 и временем 15.48.</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Разработан программный инструмент автоматической подготовки полётных миссий БПЛА для карьерной съёмки. Реализована генерация сетки точек съёмки, оптимизация маршрута алгоритмами Nearest Neighbor и 2-opt, расчёт длины маршрута, времени полёта и расхода батареи. Формируется файл миссии и PNG-визуализация. Реализован REST API с валидацией. Исходный код доступен на GitHub.</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p:blipFill>
        <p:spPr>
          <a:xfrm>
            <a:off x="6096000" y="1564937"/>
            <a:ext cx="6013104" cy="3728126"/>
          </a:xfrm>
          <a:prstGeom prst="rect">
            <a:avLst/>
          </a:prstGeom>
        </p:spPr>
      </p:pic>
      <p:sp>
        <p:nvSpPr>
          <p:cNvPr id="3" name="TextBox 2"/>
          <p:cNvSpPr txBox="1"/>
          <p:nvPr/>
        </p:nvSpPr>
        <p:spPr>
          <a:xfrm>
            <a:off x="476250" y="2306240"/>
            <a:ext cx="5001369" cy="1003696"/>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3202" b="1" i="0" spc="-120">
                <a:solidFill>
                  <a:srgbClr val="EFF5F1"/>
                </a:solidFill>
                <a:latin typeface="Instrument Sans"/>
              </a:defRPr>
            </a:pPr>
            <a:r>
              <a:rPr sz="3202" b="1" i="0">
                <a:solidFill>
                  <a:srgbClr val="EFF5F1"/>
                </a:solidFill>
                <a:latin typeface="Instrument Sans"/>
              </a:rPr>
              <a:t>Оптимизация маршрутов БПЛА для карьерной съёмки</a:t>
            </a:r>
          </a:p>
        </p:txBody>
      </p:sp>
      <p:sp>
        <p:nvSpPr>
          <p:cNvPr id="4" name="TextBox 3"/>
          <p:cNvSpPr txBox="1"/>
          <p:nvPr/>
        </p:nvSpPr>
        <p:spPr>
          <a:xfrm>
            <a:off x="476250" y="3504009"/>
            <a:ext cx="4841527" cy="1823000"/>
          </a:xfrm>
          <a:prstGeom prst="rect">
            <a:avLst/>
          </a:prstGeom>
          <a:noFill/>
          <a:ln>
            <a:noFill/>
          </a:ln>
          <a:effectLst>
            <a:outerShdw>
              <a:srgbClr val="000000">
                <a:alpha val="0"/>
              </a:srgbClr>
            </a:outerShdw>
          </a:effectLst>
        </p:spPr>
        <p:txBody>
          <a:bodyPr wrap="square" lIns="0" tIns="0" rIns="0" bIns="0">
            <a:spAutoFit/>
          </a:bodyPr>
          <a:lstStyle/>
          <a:p>
            <a:pPr>
              <a:lnSpc>
                <a:spcPct val="142500"/>
              </a:lnSpc>
              <a:defRPr sz="1200" b="0" i="0">
                <a:solidFill>
                  <a:srgbClr val="EFF5F1"/>
                </a:solidFill>
                <a:latin typeface="Instrument Sans"/>
              </a:defRPr>
            </a:pPr>
            <a:r>
              <a:rPr sz="1200" b="0" i="0" dirty="0" err="1">
                <a:solidFill>
                  <a:srgbClr val="EFF5F1"/>
                </a:solidFill>
                <a:latin typeface="Instrument Sans"/>
              </a:rPr>
              <a:t>Дипломный</a:t>
            </a:r>
            <a:r>
              <a:rPr sz="1200" b="0" i="0" dirty="0">
                <a:solidFill>
                  <a:srgbClr val="EFF5F1"/>
                </a:solidFill>
                <a:latin typeface="Instrument Sans"/>
              </a:rPr>
              <a:t> </a:t>
            </a:r>
            <a:r>
              <a:rPr sz="1200" b="0" i="0" dirty="0" err="1">
                <a:solidFill>
                  <a:srgbClr val="EFF5F1"/>
                </a:solidFill>
                <a:latin typeface="Instrument Sans"/>
              </a:rPr>
              <a:t>проект</a:t>
            </a:r>
            <a:r>
              <a:rPr sz="1200" b="0" i="0" dirty="0">
                <a:solidFill>
                  <a:srgbClr val="EFF5F1"/>
                </a:solidFill>
                <a:latin typeface="Instrument Sans"/>
              </a:rPr>
              <a:t> </a:t>
            </a:r>
            <a:r>
              <a:rPr sz="1200" b="0" i="0" dirty="0" err="1">
                <a:solidFill>
                  <a:srgbClr val="EFF5F1"/>
                </a:solidFill>
                <a:latin typeface="Instrument Sans"/>
              </a:rPr>
              <a:t>по</a:t>
            </a:r>
            <a:r>
              <a:rPr sz="1200" b="0" i="0" dirty="0">
                <a:solidFill>
                  <a:srgbClr val="EFF5F1"/>
                </a:solidFill>
                <a:latin typeface="Instrument Sans"/>
              </a:rPr>
              <a:t> </a:t>
            </a:r>
            <a:r>
              <a:rPr sz="1200" b="0" i="0" dirty="0" err="1">
                <a:solidFill>
                  <a:srgbClr val="EFF5F1"/>
                </a:solidFill>
                <a:latin typeface="Instrument Sans"/>
              </a:rPr>
              <a:t>программе</a:t>
            </a:r>
            <a:r>
              <a:rPr sz="1200" b="0" i="0" dirty="0">
                <a:solidFill>
                  <a:srgbClr val="EFF5F1"/>
                </a:solidFill>
                <a:latin typeface="Instrument Sans"/>
              </a:rPr>
              <a:t> </a:t>
            </a:r>
            <a:r>
              <a:rPr sz="1200" b="1" i="0" dirty="0">
                <a:solidFill>
                  <a:srgbClr val="EFF5F1"/>
                </a:solidFill>
                <a:latin typeface="Instrument Sans"/>
              </a:rPr>
              <a:t>«</a:t>
            </a:r>
            <a:r>
              <a:rPr sz="1200" b="1" i="0" dirty="0" err="1">
                <a:solidFill>
                  <a:srgbClr val="EFF5F1"/>
                </a:solidFill>
                <a:latin typeface="Instrument Sans"/>
              </a:rPr>
              <a:t>Беспилотные</a:t>
            </a:r>
            <a:r>
              <a:rPr sz="1200" b="1" i="0" dirty="0">
                <a:solidFill>
                  <a:srgbClr val="EFF5F1"/>
                </a:solidFill>
                <a:latin typeface="Instrument Sans"/>
              </a:rPr>
              <a:t> </a:t>
            </a:r>
            <a:r>
              <a:rPr sz="1200" b="1" i="0" dirty="0" err="1">
                <a:solidFill>
                  <a:srgbClr val="EFF5F1"/>
                </a:solidFill>
                <a:latin typeface="Instrument Sans"/>
              </a:rPr>
              <a:t>робототехнические</a:t>
            </a:r>
            <a:r>
              <a:rPr sz="1200" b="1" i="0" dirty="0">
                <a:solidFill>
                  <a:srgbClr val="EFF5F1"/>
                </a:solidFill>
                <a:latin typeface="Instrument Sans"/>
              </a:rPr>
              <a:t> </a:t>
            </a:r>
            <a:r>
              <a:rPr sz="1200" b="1" i="0" dirty="0" err="1">
                <a:solidFill>
                  <a:srgbClr val="EFF5F1"/>
                </a:solidFill>
                <a:latin typeface="Instrument Sans"/>
              </a:rPr>
              <a:t>системы</a:t>
            </a:r>
            <a:r>
              <a:rPr sz="1200" b="1" i="0" dirty="0">
                <a:solidFill>
                  <a:srgbClr val="EFF5F1"/>
                </a:solidFill>
                <a:latin typeface="Instrument Sans"/>
              </a:rPr>
              <a:t>»</a:t>
            </a:r>
            <a:r>
              <a:rPr sz="1200" b="0" i="0" dirty="0">
                <a:solidFill>
                  <a:srgbClr val="EFF5F1"/>
                </a:solidFill>
                <a:latin typeface="Instrument Sans"/>
              </a:rPr>
              <a:t>. </a:t>
            </a:r>
            <a:r>
              <a:rPr sz="1200" b="0" i="0" dirty="0" err="1">
                <a:solidFill>
                  <a:srgbClr val="EFF5F1"/>
                </a:solidFill>
                <a:latin typeface="Instrument Sans"/>
              </a:rPr>
              <a:t>Исследование</a:t>
            </a:r>
            <a:r>
              <a:rPr sz="1200" b="0" i="0" dirty="0">
                <a:solidFill>
                  <a:srgbClr val="EFF5F1"/>
                </a:solidFill>
                <a:latin typeface="Instrument Sans"/>
              </a:rPr>
              <a:t> </a:t>
            </a:r>
            <a:r>
              <a:rPr sz="1200" b="0" i="0" dirty="0" err="1">
                <a:solidFill>
                  <a:srgbClr val="EFF5F1"/>
                </a:solidFill>
                <a:latin typeface="Instrument Sans"/>
              </a:rPr>
              <a:t>посвящено</a:t>
            </a:r>
            <a:r>
              <a:rPr sz="1200" b="0" i="0" dirty="0">
                <a:solidFill>
                  <a:srgbClr val="EFF5F1"/>
                </a:solidFill>
                <a:latin typeface="Instrument Sans"/>
              </a:rPr>
              <a:t> </a:t>
            </a:r>
            <a:r>
              <a:rPr sz="1200" b="0" i="0" dirty="0" err="1">
                <a:solidFill>
                  <a:srgbClr val="EFF5F1"/>
                </a:solidFill>
                <a:latin typeface="Instrument Sans"/>
              </a:rPr>
              <a:t>разработке</a:t>
            </a:r>
            <a:r>
              <a:rPr sz="1200" b="0" i="0" dirty="0">
                <a:solidFill>
                  <a:srgbClr val="EFF5F1"/>
                </a:solidFill>
                <a:latin typeface="Instrument Sans"/>
              </a:rPr>
              <a:t> </a:t>
            </a:r>
            <a:r>
              <a:rPr sz="1200" b="0" i="0" dirty="0" err="1">
                <a:solidFill>
                  <a:srgbClr val="EFF5F1"/>
                </a:solidFill>
                <a:latin typeface="Instrument Sans"/>
              </a:rPr>
              <a:t>эффективных</a:t>
            </a:r>
            <a:r>
              <a:rPr sz="1200" b="0" i="0" dirty="0">
                <a:solidFill>
                  <a:srgbClr val="EFF5F1"/>
                </a:solidFill>
                <a:latin typeface="Instrument Sans"/>
              </a:rPr>
              <a:t> </a:t>
            </a:r>
            <a:r>
              <a:rPr sz="1200" b="0" i="0" dirty="0" err="1">
                <a:solidFill>
                  <a:srgbClr val="EFF5F1"/>
                </a:solidFill>
                <a:latin typeface="Instrument Sans"/>
              </a:rPr>
              <a:t>алгоритмов</a:t>
            </a:r>
            <a:r>
              <a:rPr sz="1200" b="0" i="0" dirty="0">
                <a:solidFill>
                  <a:srgbClr val="EFF5F1"/>
                </a:solidFill>
                <a:latin typeface="Instrument Sans"/>
              </a:rPr>
              <a:t> </a:t>
            </a:r>
            <a:r>
              <a:rPr sz="1200" b="0" i="0" dirty="0" err="1">
                <a:solidFill>
                  <a:srgbClr val="EFF5F1"/>
                </a:solidFill>
                <a:latin typeface="Instrument Sans"/>
              </a:rPr>
              <a:t>планирования</a:t>
            </a:r>
            <a:r>
              <a:rPr sz="1200" b="0" i="0" dirty="0">
                <a:solidFill>
                  <a:srgbClr val="EFF5F1"/>
                </a:solidFill>
                <a:latin typeface="Instrument Sans"/>
              </a:rPr>
              <a:t> </a:t>
            </a:r>
            <a:r>
              <a:rPr sz="1200" b="0" i="0" dirty="0" err="1">
                <a:solidFill>
                  <a:srgbClr val="EFF5F1"/>
                </a:solidFill>
                <a:latin typeface="Instrument Sans"/>
              </a:rPr>
              <a:t>полётных</a:t>
            </a:r>
            <a:r>
              <a:rPr sz="1200" b="0" i="0" dirty="0">
                <a:solidFill>
                  <a:srgbClr val="EFF5F1"/>
                </a:solidFill>
                <a:latin typeface="Instrument Sans"/>
              </a:rPr>
              <a:t> </a:t>
            </a:r>
            <a:r>
              <a:rPr sz="1200" b="0" i="0" dirty="0" err="1">
                <a:solidFill>
                  <a:srgbClr val="EFF5F1"/>
                </a:solidFill>
                <a:latin typeface="Instrument Sans"/>
              </a:rPr>
              <a:t>маршрутов</a:t>
            </a:r>
            <a:r>
              <a:rPr sz="1200" b="0" i="0" dirty="0">
                <a:solidFill>
                  <a:srgbClr val="EFF5F1"/>
                </a:solidFill>
                <a:latin typeface="Instrument Sans"/>
              </a:rPr>
              <a:t> </a:t>
            </a:r>
            <a:r>
              <a:rPr sz="1200" b="0" i="0" dirty="0" err="1">
                <a:solidFill>
                  <a:srgbClr val="EFF5F1"/>
                </a:solidFill>
                <a:latin typeface="Instrument Sans"/>
              </a:rPr>
              <a:t>для</a:t>
            </a:r>
            <a:r>
              <a:rPr sz="1200" b="0" i="0" dirty="0">
                <a:solidFill>
                  <a:srgbClr val="EFF5F1"/>
                </a:solidFill>
                <a:latin typeface="Instrument Sans"/>
              </a:rPr>
              <a:t> </a:t>
            </a:r>
            <a:r>
              <a:rPr sz="1200" b="0" i="0" dirty="0" err="1">
                <a:solidFill>
                  <a:srgbClr val="EFF5F1"/>
                </a:solidFill>
                <a:latin typeface="Instrument Sans"/>
              </a:rPr>
              <a:t>аэрофотосъёмки</a:t>
            </a:r>
            <a:r>
              <a:rPr sz="1200" b="0" i="0" dirty="0">
                <a:solidFill>
                  <a:srgbClr val="EFF5F1"/>
                </a:solidFill>
                <a:latin typeface="Instrument Sans"/>
              </a:rPr>
              <a:t> </a:t>
            </a:r>
            <a:r>
              <a:rPr sz="1200" b="0" i="0" dirty="0" err="1">
                <a:solidFill>
                  <a:srgbClr val="EFF5F1"/>
                </a:solidFill>
                <a:latin typeface="Instrument Sans"/>
              </a:rPr>
              <a:t>карьеров</a:t>
            </a:r>
            <a:r>
              <a:rPr sz="1200" b="0" i="0" dirty="0">
                <a:solidFill>
                  <a:srgbClr val="EFF5F1"/>
                </a:solidFill>
                <a:latin typeface="Instrument Sans"/>
              </a:rPr>
              <a:t> с </a:t>
            </a:r>
            <a:r>
              <a:rPr sz="1200" b="0" i="0" dirty="0" err="1">
                <a:solidFill>
                  <a:srgbClr val="EFF5F1"/>
                </a:solidFill>
                <a:latin typeface="Instrument Sans"/>
              </a:rPr>
              <a:t>целью</a:t>
            </a:r>
            <a:r>
              <a:rPr sz="1200" b="0" i="0" dirty="0">
                <a:solidFill>
                  <a:srgbClr val="EFF5F1"/>
                </a:solidFill>
                <a:latin typeface="Instrument Sans"/>
              </a:rPr>
              <a:t> </a:t>
            </a:r>
            <a:r>
              <a:rPr sz="1200" b="0" i="0" dirty="0" err="1">
                <a:solidFill>
                  <a:srgbClr val="EFF5F1"/>
                </a:solidFill>
                <a:latin typeface="Instrument Sans"/>
              </a:rPr>
              <a:t>повышения</a:t>
            </a:r>
            <a:r>
              <a:rPr sz="1200" b="0" i="0" dirty="0">
                <a:solidFill>
                  <a:srgbClr val="EFF5F1"/>
                </a:solidFill>
                <a:latin typeface="Instrument Sans"/>
              </a:rPr>
              <a:t> </a:t>
            </a:r>
            <a:r>
              <a:rPr sz="1200" b="0" i="0" dirty="0" err="1">
                <a:solidFill>
                  <a:srgbClr val="EFF5F1"/>
                </a:solidFill>
                <a:latin typeface="Instrument Sans"/>
              </a:rPr>
              <a:t>точности</a:t>
            </a:r>
            <a:r>
              <a:rPr sz="1200" b="0" i="0" dirty="0">
                <a:solidFill>
                  <a:srgbClr val="EFF5F1"/>
                </a:solidFill>
                <a:latin typeface="Instrument Sans"/>
              </a:rPr>
              <a:t> </a:t>
            </a:r>
            <a:r>
              <a:rPr sz="1200" b="0" i="0" dirty="0" err="1">
                <a:solidFill>
                  <a:srgbClr val="EFF5F1"/>
                </a:solidFill>
                <a:latin typeface="Instrument Sans"/>
              </a:rPr>
              <a:t>данных</a:t>
            </a:r>
            <a:r>
              <a:rPr sz="1200" b="0" i="0" dirty="0">
                <a:solidFill>
                  <a:srgbClr val="EFF5F1"/>
                </a:solidFill>
                <a:latin typeface="Instrument Sans"/>
              </a:rPr>
              <a:t> и </a:t>
            </a:r>
            <a:r>
              <a:rPr sz="1200" b="0" i="0" dirty="0" err="1">
                <a:solidFill>
                  <a:srgbClr val="EFF5F1"/>
                </a:solidFill>
                <a:latin typeface="Instrument Sans"/>
              </a:rPr>
              <a:t>сокращения</a:t>
            </a:r>
            <a:r>
              <a:rPr sz="1200" b="0" i="0" dirty="0">
                <a:solidFill>
                  <a:srgbClr val="EFF5F1"/>
                </a:solidFill>
                <a:latin typeface="Instrument Sans"/>
              </a:rPr>
              <a:t> </a:t>
            </a:r>
            <a:r>
              <a:rPr sz="1200" b="0" i="0" dirty="0" err="1">
                <a:solidFill>
                  <a:srgbClr val="EFF5F1"/>
                </a:solidFill>
                <a:latin typeface="Instrument Sans"/>
              </a:rPr>
              <a:t>времени</a:t>
            </a:r>
            <a:r>
              <a:rPr sz="1200" b="0" i="0" dirty="0">
                <a:solidFill>
                  <a:srgbClr val="EFF5F1"/>
                </a:solidFill>
                <a:latin typeface="Instrument Sans"/>
              </a:rPr>
              <a:t> </a:t>
            </a:r>
            <a:r>
              <a:rPr sz="1200" b="0" i="0" dirty="0" err="1">
                <a:solidFill>
                  <a:srgbClr val="EFF5F1"/>
                </a:solidFill>
                <a:latin typeface="Instrument Sans"/>
              </a:rPr>
              <a:t>работы</a:t>
            </a:r>
            <a:r>
              <a:rPr sz="1200" b="0" i="0" dirty="0">
                <a:solidFill>
                  <a:srgbClr val="EFF5F1"/>
                </a:solidFill>
                <a:latin typeface="Instrument Sans"/>
              </a:rPr>
              <a:t>.</a:t>
            </a:r>
          </a:p>
          <a:p>
            <a:pPr>
              <a:lnSpc>
                <a:spcPct val="142500"/>
              </a:lnSpc>
              <a:defRPr sz="1200" b="0" i="0">
                <a:solidFill>
                  <a:srgbClr val="EFF5F1"/>
                </a:solidFill>
                <a:latin typeface="Instrument Sans"/>
              </a:defRPr>
            </a:pPr>
            <a:endParaRPr sz="1200" b="0" i="0" dirty="0">
              <a:solidFill>
                <a:srgbClr val="EFF5F1"/>
              </a:solidFill>
              <a:latin typeface="Instrument Sans"/>
            </a:endParaRPr>
          </a:p>
          <a:p>
            <a:pPr>
              <a:lnSpc>
                <a:spcPct val="142500"/>
              </a:lnSpc>
              <a:defRPr sz="1200" b="0" i="0">
                <a:solidFill>
                  <a:srgbClr val="EFF5F1"/>
                </a:solidFill>
                <a:latin typeface="Instrument Sans"/>
              </a:defRPr>
            </a:pPr>
            <a:r>
              <a:rPr sz="1200" b="0" i="1" dirty="0">
                <a:solidFill>
                  <a:srgbClr val="EFF5F1"/>
                </a:solidFill>
                <a:latin typeface="Instrument Sans"/>
              </a:rPr>
              <a:t>202</a:t>
            </a:r>
            <a:r>
              <a:rPr lang="en-US" sz="1200" b="0" i="1" dirty="0">
                <a:solidFill>
                  <a:srgbClr val="EFF5F1"/>
                </a:solidFill>
                <a:latin typeface="Instrument Sans"/>
              </a:rPr>
              <a:t>6</a:t>
            </a:r>
            <a:r>
              <a:rPr sz="1200" b="0" i="1" dirty="0">
                <a:solidFill>
                  <a:srgbClr val="EFF5F1"/>
                </a:solidFill>
                <a:latin typeface="Instrument Sans"/>
              </a:rPr>
              <a:t> г.</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TextBox 1"/>
          <p:cNvSpPr txBox="1"/>
          <p:nvPr/>
        </p:nvSpPr>
        <p:spPr>
          <a:xfrm>
            <a:off x="1095375" y="3292673"/>
            <a:ext cx="4300388" cy="1004887"/>
          </a:xfrm>
          <a:prstGeom prst="rect">
            <a:avLst/>
          </a:prstGeom>
          <a:noFill/>
          <a:ln>
            <a:noFill/>
          </a:ln>
          <a:effectLst>
            <a:outerShdw>
              <a:srgbClr val="000000">
                <a:alpha val="0"/>
              </a:srgbClr>
            </a:outerShdw>
          </a:effectLst>
        </p:spPr>
        <p:txBody>
          <a:bodyPr wrap="square" lIns="0" tIns="0" rIns="0" bIns="0">
            <a:spAutoFit/>
          </a:bodyPr>
          <a:lstStyle/>
          <a:p>
            <a:pPr>
              <a:lnSpc>
                <a:spcPct val="142500"/>
              </a:lnSpc>
              <a:defRPr sz="1200" b="0" i="0">
                <a:solidFill>
                  <a:srgbClr val="EFF5F1"/>
                </a:solidFill>
                <a:latin typeface="Instrument Sans"/>
              </a:defRPr>
            </a:pPr>
            <a:r>
              <a:rPr sz="1200" b="0" i="0" dirty="0" err="1">
                <a:solidFill>
                  <a:srgbClr val="EFF5F1"/>
                </a:solidFill>
                <a:latin typeface="Instrument Sans"/>
              </a:rPr>
              <a:t>Аэрофотосъёмка</a:t>
            </a:r>
            <a:r>
              <a:rPr sz="1200" b="0" i="0" dirty="0">
                <a:solidFill>
                  <a:srgbClr val="EFF5F1"/>
                </a:solidFill>
                <a:latin typeface="Instrument Sans"/>
              </a:rPr>
              <a:t> </a:t>
            </a:r>
            <a:r>
              <a:rPr sz="1200" b="0" i="0" dirty="0" err="1">
                <a:solidFill>
                  <a:srgbClr val="EFF5F1"/>
                </a:solidFill>
                <a:latin typeface="Instrument Sans"/>
              </a:rPr>
              <a:t>карьеров</a:t>
            </a:r>
            <a:r>
              <a:rPr sz="1200" b="0" i="0" dirty="0">
                <a:solidFill>
                  <a:srgbClr val="EFF5F1"/>
                </a:solidFill>
                <a:latin typeface="Instrument Sans"/>
              </a:rPr>
              <a:t> — </a:t>
            </a:r>
            <a:r>
              <a:rPr sz="1200" b="0" i="1" dirty="0" err="1">
                <a:solidFill>
                  <a:srgbClr val="EFF5F1"/>
                </a:solidFill>
                <a:latin typeface="Instrument Sans"/>
              </a:rPr>
              <a:t>стандартная</a:t>
            </a:r>
            <a:r>
              <a:rPr sz="1200" b="0" i="1" dirty="0">
                <a:solidFill>
                  <a:srgbClr val="EFF5F1"/>
                </a:solidFill>
                <a:latin typeface="Instrument Sans"/>
              </a:rPr>
              <a:t> </a:t>
            </a:r>
            <a:r>
              <a:rPr sz="1200" b="0" i="1" dirty="0" err="1">
                <a:solidFill>
                  <a:srgbClr val="EFF5F1"/>
                </a:solidFill>
                <a:latin typeface="Instrument Sans"/>
              </a:rPr>
              <a:t>задача</a:t>
            </a:r>
            <a:r>
              <a:rPr sz="1200" b="0" i="1" dirty="0">
                <a:solidFill>
                  <a:srgbClr val="EFF5F1"/>
                </a:solidFill>
                <a:latin typeface="Instrument Sans"/>
              </a:rPr>
              <a:t> </a:t>
            </a:r>
            <a:r>
              <a:rPr sz="1200" b="0" i="1" dirty="0" err="1">
                <a:solidFill>
                  <a:srgbClr val="EFF5F1"/>
                </a:solidFill>
                <a:latin typeface="Instrument Sans"/>
              </a:rPr>
              <a:t>маркшейдерии</a:t>
            </a:r>
            <a:r>
              <a:rPr sz="1200" b="0" i="0" dirty="0">
                <a:solidFill>
                  <a:srgbClr val="EFF5F1"/>
                </a:solidFill>
                <a:latin typeface="Instrument Sans"/>
              </a:rPr>
              <a:t>. </a:t>
            </a:r>
            <a:r>
              <a:rPr sz="1200" b="0" i="0" dirty="0" err="1">
                <a:solidFill>
                  <a:srgbClr val="EFF5F1"/>
                </a:solidFill>
                <a:latin typeface="Instrument Sans"/>
              </a:rPr>
              <a:t>Однако</a:t>
            </a:r>
            <a:r>
              <a:rPr sz="1200" b="0" i="0" dirty="0">
                <a:solidFill>
                  <a:srgbClr val="EFF5F1"/>
                </a:solidFill>
                <a:latin typeface="Instrument Sans"/>
              </a:rPr>
              <a:t> </a:t>
            </a:r>
            <a:r>
              <a:rPr sz="1200" b="0" i="0" dirty="0" err="1">
                <a:solidFill>
                  <a:srgbClr val="EFF5F1"/>
                </a:solidFill>
                <a:latin typeface="Instrument Sans"/>
              </a:rPr>
              <a:t>ручное</a:t>
            </a:r>
            <a:r>
              <a:rPr sz="1200" b="0" i="0" dirty="0">
                <a:solidFill>
                  <a:srgbClr val="EFF5F1"/>
                </a:solidFill>
                <a:latin typeface="Instrument Sans"/>
              </a:rPr>
              <a:t> </a:t>
            </a:r>
            <a:r>
              <a:rPr sz="1200" b="0" i="0" dirty="0" err="1">
                <a:solidFill>
                  <a:srgbClr val="EFF5F1"/>
                </a:solidFill>
                <a:latin typeface="Instrument Sans"/>
              </a:rPr>
              <a:t>планирование</a:t>
            </a:r>
            <a:r>
              <a:rPr sz="1200" b="0" i="0" dirty="0">
                <a:solidFill>
                  <a:srgbClr val="EFF5F1"/>
                </a:solidFill>
                <a:latin typeface="Instrument Sans"/>
              </a:rPr>
              <a:t> </a:t>
            </a:r>
            <a:r>
              <a:rPr sz="1200" b="0" i="0" dirty="0" err="1">
                <a:solidFill>
                  <a:srgbClr val="EFF5F1"/>
                </a:solidFill>
                <a:latin typeface="Instrument Sans"/>
              </a:rPr>
              <a:t>полётов</a:t>
            </a:r>
            <a:r>
              <a:rPr sz="1200" b="0" i="0" dirty="0">
                <a:solidFill>
                  <a:srgbClr val="EFF5F1"/>
                </a:solidFill>
                <a:latin typeface="Instrument Sans"/>
              </a:rPr>
              <a:t> </a:t>
            </a:r>
            <a:r>
              <a:rPr sz="1200" b="0" i="0" dirty="0" err="1">
                <a:solidFill>
                  <a:srgbClr val="EFF5F1"/>
                </a:solidFill>
                <a:latin typeface="Instrument Sans"/>
              </a:rPr>
              <a:t>сопряжено</a:t>
            </a:r>
            <a:r>
              <a:rPr sz="1200" b="0" i="0" dirty="0">
                <a:solidFill>
                  <a:srgbClr val="EFF5F1"/>
                </a:solidFill>
                <a:latin typeface="Instrument Sans"/>
              </a:rPr>
              <a:t> с </a:t>
            </a:r>
            <a:r>
              <a:rPr sz="1200" b="0" i="0" dirty="0" err="1">
                <a:solidFill>
                  <a:srgbClr val="EFF5F1"/>
                </a:solidFill>
                <a:latin typeface="Instrument Sans"/>
              </a:rPr>
              <a:t>рядом</a:t>
            </a:r>
            <a:r>
              <a:rPr sz="1200" b="0" i="0" dirty="0">
                <a:solidFill>
                  <a:srgbClr val="EFF5F1"/>
                </a:solidFill>
                <a:latin typeface="Instrument Sans"/>
              </a:rPr>
              <a:t> </a:t>
            </a:r>
            <a:r>
              <a:rPr sz="1200" b="0" i="0" dirty="0" err="1">
                <a:solidFill>
                  <a:srgbClr val="EFF5F1"/>
                </a:solidFill>
                <a:latin typeface="Instrument Sans"/>
              </a:rPr>
              <a:t>существенных</a:t>
            </a:r>
            <a:r>
              <a:rPr sz="1200" b="0" i="0" dirty="0">
                <a:solidFill>
                  <a:srgbClr val="EFF5F1"/>
                </a:solidFill>
                <a:latin typeface="Instrument Sans"/>
              </a:rPr>
              <a:t> </a:t>
            </a:r>
            <a:r>
              <a:rPr sz="1200" b="0" i="0" dirty="0" err="1">
                <a:solidFill>
                  <a:srgbClr val="EFF5F1"/>
                </a:solidFill>
                <a:latin typeface="Instrument Sans"/>
              </a:rPr>
              <a:t>сложностей</a:t>
            </a:r>
            <a:r>
              <a:rPr sz="1200" b="0" i="0" dirty="0">
                <a:solidFill>
                  <a:srgbClr val="EFF5F1"/>
                </a:solidFill>
                <a:latin typeface="Instrument Sans"/>
              </a:rPr>
              <a:t>, </a:t>
            </a:r>
            <a:r>
              <a:rPr sz="1200" b="0" i="0" dirty="0" err="1">
                <a:solidFill>
                  <a:srgbClr val="EFF5F1"/>
                </a:solidFill>
                <a:latin typeface="Instrument Sans"/>
              </a:rPr>
              <a:t>снижающих</a:t>
            </a:r>
            <a:r>
              <a:rPr sz="1200" b="0" i="0" dirty="0">
                <a:solidFill>
                  <a:srgbClr val="EFF5F1"/>
                </a:solidFill>
                <a:latin typeface="Instrument Sans"/>
              </a:rPr>
              <a:t> </a:t>
            </a:r>
            <a:r>
              <a:rPr sz="1200" b="0" i="0" dirty="0" err="1">
                <a:solidFill>
                  <a:srgbClr val="EFF5F1"/>
                </a:solidFill>
                <a:latin typeface="Instrument Sans"/>
              </a:rPr>
              <a:t>эффективность</a:t>
            </a:r>
            <a:r>
              <a:rPr sz="1200" b="0" i="0" dirty="0">
                <a:solidFill>
                  <a:srgbClr val="EFF5F1"/>
                </a:solidFill>
                <a:latin typeface="Instrument Sans"/>
              </a:rPr>
              <a:t> </a:t>
            </a:r>
            <a:r>
              <a:rPr sz="1200" b="0" i="0" dirty="0" err="1">
                <a:solidFill>
                  <a:srgbClr val="EFF5F1"/>
                </a:solidFill>
                <a:latin typeface="Instrument Sans"/>
              </a:rPr>
              <a:t>работы</a:t>
            </a:r>
            <a:r>
              <a:rPr sz="1200" b="0" i="0" dirty="0">
                <a:solidFill>
                  <a:srgbClr val="EFF5F1"/>
                </a:solidFill>
                <a:latin typeface="Instrument Sans"/>
              </a:rPr>
              <a:t> БПЛА.</a:t>
            </a:r>
          </a:p>
        </p:txBody>
      </p:sp>
      <p:pic>
        <p:nvPicPr>
          <p:cNvPr id="3" name="Picture 2" descr="769543c8-2004-49d1-8958-66c3ee865933.png"/>
          <p:cNvPicPr>
            <a:picLocks noChangeAspect="1"/>
          </p:cNvPicPr>
          <p:nvPr/>
        </p:nvPicPr>
        <p:blipFill>
          <a:blip r:embed="rId3"/>
          <a:stretch>
            <a:fillRect/>
          </a:stretch>
        </p:blipFill>
        <p:spPr>
          <a:xfrm>
            <a:off x="6896992" y="1810494"/>
            <a:ext cx="4199632" cy="893564"/>
          </a:xfrm>
          <a:prstGeom prst="rect">
            <a:avLst/>
          </a:prstGeom>
        </p:spPr>
      </p:pic>
      <p:pic>
        <p:nvPicPr>
          <p:cNvPr id="4" name="Picture 3" descr="769543c8-2004-49d1-8958-66c3ee865933.png"/>
          <p:cNvPicPr>
            <a:picLocks noChangeAspect="1"/>
          </p:cNvPicPr>
          <p:nvPr/>
        </p:nvPicPr>
        <p:blipFill>
          <a:blip r:embed="rId3"/>
          <a:stretch>
            <a:fillRect/>
          </a:stretch>
        </p:blipFill>
        <p:spPr>
          <a:xfrm>
            <a:off x="6896992" y="2894558"/>
            <a:ext cx="4199632" cy="893564"/>
          </a:xfrm>
          <a:prstGeom prst="rect">
            <a:avLst/>
          </a:prstGeom>
        </p:spPr>
      </p:pic>
      <p:pic>
        <p:nvPicPr>
          <p:cNvPr id="5" name="Picture 4" descr="769543c8-2004-49d1-8958-66c3ee865933.png"/>
          <p:cNvPicPr>
            <a:picLocks noChangeAspect="1"/>
          </p:cNvPicPr>
          <p:nvPr/>
        </p:nvPicPr>
        <p:blipFill>
          <a:blip r:embed="rId3"/>
          <a:stretch>
            <a:fillRect/>
          </a:stretch>
        </p:blipFill>
        <p:spPr>
          <a:xfrm>
            <a:off x="6896992" y="3978622"/>
            <a:ext cx="4199632" cy="893564"/>
          </a:xfrm>
          <a:prstGeom prst="rect">
            <a:avLst/>
          </a:prstGeom>
        </p:spPr>
      </p:pic>
      <p:pic>
        <p:nvPicPr>
          <p:cNvPr id="6" name="Picture 5" descr="a5a730e9-2dcc-46ff-b65d-992584375820.png"/>
          <p:cNvPicPr>
            <a:picLocks noChangeAspect="1"/>
          </p:cNvPicPr>
          <p:nvPr/>
        </p:nvPicPr>
        <p:blipFill>
          <a:blip r:embed="rId4"/>
          <a:stretch>
            <a:fillRect/>
          </a:stretch>
        </p:blipFill>
        <p:spPr>
          <a:xfrm>
            <a:off x="6896992" y="5062686"/>
            <a:ext cx="4199632" cy="893564"/>
          </a:xfrm>
          <a:prstGeom prst="rect">
            <a:avLst/>
          </a:prstGeom>
        </p:spPr>
      </p:pic>
      <p:pic>
        <p:nvPicPr>
          <p:cNvPr id="7" name="Picture 6" descr="f07c3e0e-a62d-42cc-9802-e9ed528893cc.png"/>
          <p:cNvPicPr>
            <a:picLocks noChangeAspect="1"/>
          </p:cNvPicPr>
          <p:nvPr/>
        </p:nvPicPr>
        <p:blipFill>
          <a:blip r:embed="rId5"/>
          <a:stretch>
            <a:fillRect/>
          </a:stretch>
        </p:blipFill>
        <p:spPr>
          <a:xfrm>
            <a:off x="6896992" y="901749"/>
            <a:ext cx="4199632" cy="718244"/>
          </a:xfrm>
          <a:prstGeom prst="rect">
            <a:avLst/>
          </a:prstGeom>
        </p:spPr>
      </p:pic>
      <p:sp>
        <p:nvSpPr>
          <p:cNvPr id="8" name="TextBox 7"/>
          <p:cNvSpPr txBox="1"/>
          <p:nvPr/>
        </p:nvSpPr>
        <p:spPr>
          <a:xfrm>
            <a:off x="7125592" y="5443686"/>
            <a:ext cx="3486001" cy="356294"/>
          </a:xfrm>
          <a:prstGeom prst="rect">
            <a:avLst/>
          </a:prstGeom>
          <a:noFill/>
          <a:ln>
            <a:noFill/>
          </a:ln>
          <a:effectLst>
            <a:outerShdw>
              <a:srgbClr val="000000">
                <a:alpha val="0"/>
              </a:srgbClr>
            </a:outerShdw>
          </a:effectLst>
        </p:spPr>
        <p:txBody>
          <a:bodyPr wrap="square" lIns="0" tIns="0" rIns="0" bIns="0">
            <a:spAutoFit/>
          </a:bodyPr>
          <a:lstStyle/>
          <a:p>
            <a:pPr>
              <a:lnSpc>
                <a:spcPct val="96209"/>
              </a:lnSpc>
              <a:defRPr sz="1147" b="0" i="0">
                <a:solidFill>
                  <a:srgbClr val="EFF5F1"/>
                </a:solidFill>
                <a:latin typeface="Instrument Sans"/>
              </a:defRPr>
            </a:pPr>
            <a:r>
              <a:rPr sz="1147" b="0" i="0">
                <a:solidFill>
                  <a:srgbClr val="EFF5F1"/>
                </a:solidFill>
                <a:latin typeface="Instrument Sans"/>
              </a:rPr>
              <a:t>Из-за неверных расчётов возможна </a:t>
            </a:r>
            <a:r>
              <a:rPr sz="1147" b="1" i="0">
                <a:solidFill>
                  <a:srgbClr val="EFF5F1"/>
                </a:solidFill>
                <a:latin typeface="Instrument Sans"/>
              </a:rPr>
              <a:t>разрядка батареи в полёте</a:t>
            </a:r>
            <a:r>
              <a:rPr sz="1147" b="0" i="0">
                <a:solidFill>
                  <a:srgbClr val="EFF5F1"/>
                </a:solidFill>
                <a:latin typeface="Instrument Sans"/>
              </a:rPr>
              <a:t>.</a:t>
            </a:r>
          </a:p>
        </p:txBody>
      </p:sp>
      <p:sp>
        <p:nvSpPr>
          <p:cNvPr id="9" name="TextBox 8"/>
          <p:cNvSpPr txBox="1"/>
          <p:nvPr/>
        </p:nvSpPr>
        <p:spPr>
          <a:xfrm>
            <a:off x="7125592" y="3275558"/>
            <a:ext cx="3331517" cy="356294"/>
          </a:xfrm>
          <a:prstGeom prst="rect">
            <a:avLst/>
          </a:prstGeom>
          <a:noFill/>
          <a:ln>
            <a:noFill/>
          </a:ln>
          <a:effectLst>
            <a:outerShdw>
              <a:srgbClr val="000000">
                <a:alpha val="0"/>
              </a:srgbClr>
            </a:outerShdw>
          </a:effectLst>
        </p:spPr>
        <p:txBody>
          <a:bodyPr wrap="square" lIns="0" tIns="0" rIns="0" bIns="0">
            <a:spAutoFit/>
          </a:bodyPr>
          <a:lstStyle/>
          <a:p>
            <a:pPr>
              <a:lnSpc>
                <a:spcPct val="96209"/>
              </a:lnSpc>
              <a:defRPr sz="1147" b="0" i="0">
                <a:solidFill>
                  <a:srgbClr val="EFF5F1"/>
                </a:solidFill>
                <a:latin typeface="Instrument Sans"/>
              </a:defRPr>
            </a:pPr>
            <a:r>
              <a:rPr sz="1147" b="0" i="0">
                <a:solidFill>
                  <a:srgbClr val="EFF5F1"/>
                </a:solidFill>
                <a:latin typeface="Instrument Sans"/>
              </a:rPr>
              <a:t>Отсутствует автоматический расчёт времени полёта и расхода аккумулятора.</a:t>
            </a:r>
          </a:p>
        </p:txBody>
      </p:sp>
      <p:sp>
        <p:nvSpPr>
          <p:cNvPr id="10" name="TextBox 9"/>
          <p:cNvSpPr txBox="1"/>
          <p:nvPr/>
        </p:nvSpPr>
        <p:spPr>
          <a:xfrm>
            <a:off x="7125592" y="4359622"/>
            <a:ext cx="3246834" cy="356294"/>
          </a:xfrm>
          <a:prstGeom prst="rect">
            <a:avLst/>
          </a:prstGeom>
          <a:noFill/>
          <a:ln>
            <a:noFill/>
          </a:ln>
          <a:effectLst>
            <a:outerShdw>
              <a:srgbClr val="000000">
                <a:alpha val="0"/>
              </a:srgbClr>
            </a:outerShdw>
          </a:effectLst>
        </p:spPr>
        <p:txBody>
          <a:bodyPr wrap="square" lIns="0" tIns="0" rIns="0" bIns="0">
            <a:spAutoFit/>
          </a:bodyPr>
          <a:lstStyle/>
          <a:p>
            <a:pPr>
              <a:lnSpc>
                <a:spcPct val="96209"/>
              </a:lnSpc>
              <a:defRPr sz="1147" b="0" i="0">
                <a:solidFill>
                  <a:srgbClr val="EFF5F1"/>
                </a:solidFill>
                <a:latin typeface="Instrument Sans"/>
              </a:defRPr>
            </a:pPr>
            <a:r>
              <a:rPr sz="1147" b="0" i="0">
                <a:solidFill>
                  <a:srgbClr val="EFF5F1"/>
                </a:solidFill>
                <a:latin typeface="Instrument Sans"/>
              </a:rPr>
              <a:t>Маршрут не оптимизируется — БПЛА летит </a:t>
            </a:r>
            <a:r>
              <a:rPr sz="1147" b="0" i="1">
                <a:solidFill>
                  <a:srgbClr val="EFF5F1"/>
                </a:solidFill>
                <a:latin typeface="Instrument Sans"/>
              </a:rPr>
              <a:t>лишние километры</a:t>
            </a:r>
            <a:r>
              <a:rPr sz="1147" b="0" i="0">
                <a:solidFill>
                  <a:srgbClr val="EFF5F1"/>
                </a:solidFill>
                <a:latin typeface="Instrument Sans"/>
              </a:rPr>
              <a:t>, теряя время и ресурс.</a:t>
            </a:r>
          </a:p>
        </p:txBody>
      </p:sp>
      <p:sp>
        <p:nvSpPr>
          <p:cNvPr id="11" name="TextBox 10"/>
          <p:cNvSpPr txBox="1"/>
          <p:nvPr/>
        </p:nvSpPr>
        <p:spPr>
          <a:xfrm>
            <a:off x="7125592" y="2191494"/>
            <a:ext cx="3234481" cy="356294"/>
          </a:xfrm>
          <a:prstGeom prst="rect">
            <a:avLst/>
          </a:prstGeom>
          <a:noFill/>
          <a:ln>
            <a:noFill/>
          </a:ln>
          <a:effectLst>
            <a:outerShdw>
              <a:srgbClr val="000000">
                <a:alpha val="0"/>
              </a:srgbClr>
            </a:outerShdw>
          </a:effectLst>
        </p:spPr>
        <p:txBody>
          <a:bodyPr wrap="square" lIns="0" tIns="0" rIns="0" bIns="0">
            <a:spAutoFit/>
          </a:bodyPr>
          <a:lstStyle/>
          <a:p>
            <a:pPr>
              <a:lnSpc>
                <a:spcPct val="96209"/>
              </a:lnSpc>
              <a:defRPr sz="1147" b="0" i="0">
                <a:solidFill>
                  <a:srgbClr val="EFF5F1"/>
                </a:solidFill>
                <a:latin typeface="Instrument Sans"/>
              </a:defRPr>
            </a:pPr>
            <a:r>
              <a:rPr sz="1147" b="0" i="0">
                <a:solidFill>
                  <a:srgbClr val="EFF5F1"/>
                </a:solidFill>
                <a:latin typeface="Instrument Sans"/>
              </a:rPr>
              <a:t>Перекрытие снимков и высота полёта определяются субъективно, без расчётов.</a:t>
            </a:r>
          </a:p>
        </p:txBody>
      </p:sp>
      <p:sp>
        <p:nvSpPr>
          <p:cNvPr id="12" name="TextBox 11"/>
          <p:cNvSpPr txBox="1"/>
          <p:nvPr/>
        </p:nvSpPr>
        <p:spPr>
          <a:xfrm>
            <a:off x="1095375" y="2517576"/>
            <a:ext cx="1722685" cy="495300"/>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3202" b="1" i="0" spc="-120">
                <a:solidFill>
                  <a:srgbClr val="EFF5F1"/>
                </a:solidFill>
                <a:latin typeface="Instrument Sans"/>
              </a:defRPr>
            </a:pPr>
            <a:r>
              <a:rPr sz="3202" b="1" i="0">
                <a:solidFill>
                  <a:srgbClr val="EFF5F1"/>
                </a:solidFill>
                <a:latin typeface="Instrument Sans"/>
              </a:rPr>
              <a:t>Проблема</a:t>
            </a:r>
          </a:p>
        </p:txBody>
      </p:sp>
      <p:sp>
        <p:nvSpPr>
          <p:cNvPr id="13" name="TextBox 12"/>
          <p:cNvSpPr txBox="1"/>
          <p:nvPr/>
        </p:nvSpPr>
        <p:spPr>
          <a:xfrm>
            <a:off x="7125592" y="1282749"/>
            <a:ext cx="3659088" cy="180975"/>
          </a:xfrm>
          <a:prstGeom prst="rect">
            <a:avLst/>
          </a:prstGeom>
          <a:noFill/>
          <a:ln>
            <a:noFill/>
          </a:ln>
          <a:effectLst>
            <a:outerShdw>
              <a:srgbClr val="000000">
                <a:alpha val="0"/>
              </a:srgbClr>
            </a:outerShdw>
          </a:effectLst>
        </p:spPr>
        <p:txBody>
          <a:bodyPr wrap="square" lIns="0" tIns="0" rIns="0" bIns="0">
            <a:spAutoFit/>
          </a:bodyPr>
          <a:lstStyle/>
          <a:p>
            <a:pPr>
              <a:lnSpc>
                <a:spcPct val="96209"/>
              </a:lnSpc>
              <a:defRPr sz="1147" b="0" i="0">
                <a:solidFill>
                  <a:srgbClr val="EFF5F1"/>
                </a:solidFill>
                <a:latin typeface="Instrument Sans"/>
              </a:defRPr>
            </a:pPr>
            <a:r>
              <a:rPr sz="1147" b="0" i="0">
                <a:solidFill>
                  <a:srgbClr val="EFF5F1"/>
                </a:solidFill>
                <a:latin typeface="Instrument Sans"/>
              </a:rPr>
              <a:t>Инженер строит маршрут вручную — это </a:t>
            </a:r>
            <a:r>
              <a:rPr sz="1147" b="1" i="0">
                <a:solidFill>
                  <a:srgbClr val="EFF5F1"/>
                </a:solidFill>
                <a:latin typeface="Instrument Sans"/>
              </a:rPr>
              <a:t>долго и неточно</a:t>
            </a:r>
            <a:r>
              <a:rPr sz="1147" b="0" i="0">
                <a:solidFill>
                  <a:srgbClr val="EFF5F1"/>
                </a:solidFill>
                <a:latin typeface="Instrument Sans"/>
              </a:rPr>
              <a:t>.</a:t>
            </a:r>
          </a:p>
        </p:txBody>
      </p:sp>
      <p:sp>
        <p:nvSpPr>
          <p:cNvPr id="14" name="TextBox 13"/>
          <p:cNvSpPr txBox="1"/>
          <p:nvPr/>
        </p:nvSpPr>
        <p:spPr>
          <a:xfrm>
            <a:off x="7125592" y="3046958"/>
            <a:ext cx="2337941"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Нет расчёта времени и батареи</a:t>
            </a:r>
          </a:p>
        </p:txBody>
      </p:sp>
      <p:sp>
        <p:nvSpPr>
          <p:cNvPr id="15" name="TextBox 14"/>
          <p:cNvSpPr txBox="1"/>
          <p:nvPr/>
        </p:nvSpPr>
        <p:spPr>
          <a:xfrm>
            <a:off x="7125592" y="1054149"/>
            <a:ext cx="2238672"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Ручное построение маршрута</a:t>
            </a:r>
          </a:p>
        </p:txBody>
      </p:sp>
      <p:sp>
        <p:nvSpPr>
          <p:cNvPr id="16" name="TextBox 15"/>
          <p:cNvSpPr txBox="1"/>
          <p:nvPr/>
        </p:nvSpPr>
        <p:spPr>
          <a:xfrm>
            <a:off x="7125592" y="1962894"/>
            <a:ext cx="2234505"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Подбор параметров «на глаз»</a:t>
            </a:r>
          </a:p>
        </p:txBody>
      </p:sp>
      <p:sp>
        <p:nvSpPr>
          <p:cNvPr id="17" name="TextBox 16"/>
          <p:cNvSpPr txBox="1"/>
          <p:nvPr/>
        </p:nvSpPr>
        <p:spPr>
          <a:xfrm>
            <a:off x="7125592" y="4131022"/>
            <a:ext cx="1997719"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Неоптимальный маршрут</a:t>
            </a:r>
          </a:p>
        </p:txBody>
      </p:sp>
      <p:sp>
        <p:nvSpPr>
          <p:cNvPr id="18" name="TextBox 17"/>
          <p:cNvSpPr txBox="1"/>
          <p:nvPr/>
        </p:nvSpPr>
        <p:spPr>
          <a:xfrm>
            <a:off x="7125592" y="5215086"/>
            <a:ext cx="1831330"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Риск разрядки в воздухе</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pic>
        <p:nvPicPr>
          <p:cNvPr id="2" name="Picture 1" descr="a00df6aa-f17d-46a2-bd3c-e54b10476664.png"/>
          <p:cNvPicPr>
            <a:picLocks noChangeAspect="1"/>
          </p:cNvPicPr>
          <p:nvPr/>
        </p:nvPicPr>
        <p:blipFill>
          <a:blip r:embed="rId3"/>
          <a:stretch>
            <a:fillRect/>
          </a:stretch>
        </p:blipFill>
        <p:spPr>
          <a:xfrm>
            <a:off x="5419725" y="690562"/>
            <a:ext cx="2790825" cy="1095375"/>
          </a:xfrm>
          <a:prstGeom prst="rect">
            <a:avLst/>
          </a:prstGeom>
        </p:spPr>
      </p:pic>
      <p:pic>
        <p:nvPicPr>
          <p:cNvPr id="3" name="Picture 2" descr="a00df6aa-f17d-46a2-bd3c-e54b10476664.png"/>
          <p:cNvPicPr>
            <a:picLocks noChangeAspect="1"/>
          </p:cNvPicPr>
          <p:nvPr/>
        </p:nvPicPr>
        <p:blipFill>
          <a:blip r:embed="rId3"/>
          <a:stretch>
            <a:fillRect/>
          </a:stretch>
        </p:blipFill>
        <p:spPr>
          <a:xfrm>
            <a:off x="5419725" y="1785937"/>
            <a:ext cx="2790825" cy="1095375"/>
          </a:xfrm>
          <a:prstGeom prst="rect">
            <a:avLst/>
          </a:prstGeom>
        </p:spPr>
      </p:pic>
      <p:pic>
        <p:nvPicPr>
          <p:cNvPr id="4" name="Picture 3" descr="a00df6aa-f17d-46a2-bd3c-e54b10476664.png"/>
          <p:cNvPicPr>
            <a:picLocks noChangeAspect="1"/>
          </p:cNvPicPr>
          <p:nvPr/>
        </p:nvPicPr>
        <p:blipFill>
          <a:blip r:embed="rId3"/>
          <a:stretch>
            <a:fillRect/>
          </a:stretch>
        </p:blipFill>
        <p:spPr>
          <a:xfrm>
            <a:off x="5419725" y="2881312"/>
            <a:ext cx="2790825" cy="1095375"/>
          </a:xfrm>
          <a:prstGeom prst="rect">
            <a:avLst/>
          </a:prstGeom>
        </p:spPr>
      </p:pic>
      <p:pic>
        <p:nvPicPr>
          <p:cNvPr id="5" name="Picture 4" descr="a00df6aa-f17d-46a2-bd3c-e54b10476664.png"/>
          <p:cNvPicPr>
            <a:picLocks noChangeAspect="1"/>
          </p:cNvPicPr>
          <p:nvPr/>
        </p:nvPicPr>
        <p:blipFill>
          <a:blip r:embed="rId3"/>
          <a:stretch>
            <a:fillRect/>
          </a:stretch>
        </p:blipFill>
        <p:spPr>
          <a:xfrm>
            <a:off x="5419725" y="3976687"/>
            <a:ext cx="2790825" cy="1095375"/>
          </a:xfrm>
          <a:prstGeom prst="rect">
            <a:avLst/>
          </a:prstGeom>
        </p:spPr>
      </p:pic>
      <p:pic>
        <p:nvPicPr>
          <p:cNvPr id="6" name="Picture 5" descr="a00df6aa-f17d-46a2-bd3c-e54b10476664.png"/>
          <p:cNvPicPr>
            <a:picLocks noChangeAspect="1"/>
          </p:cNvPicPr>
          <p:nvPr/>
        </p:nvPicPr>
        <p:blipFill>
          <a:blip r:embed="rId3"/>
          <a:stretch>
            <a:fillRect/>
          </a:stretch>
        </p:blipFill>
        <p:spPr>
          <a:xfrm>
            <a:off x="5419725" y="5072062"/>
            <a:ext cx="2790825" cy="1095375"/>
          </a:xfrm>
          <a:prstGeom prst="rect">
            <a:avLst/>
          </a:prstGeom>
        </p:spPr>
      </p:pic>
      <p:pic>
        <p:nvPicPr>
          <p:cNvPr id="7" name="Picture 6" descr="a00df6aa-f17d-46a2-bd3c-e54b10476664.png"/>
          <p:cNvPicPr>
            <a:picLocks noChangeAspect="1"/>
          </p:cNvPicPr>
          <p:nvPr/>
        </p:nvPicPr>
        <p:blipFill>
          <a:blip r:embed="rId3"/>
          <a:stretch>
            <a:fillRect/>
          </a:stretch>
        </p:blipFill>
        <p:spPr>
          <a:xfrm>
            <a:off x="8591550" y="690562"/>
            <a:ext cx="2790825" cy="1095375"/>
          </a:xfrm>
          <a:prstGeom prst="rect">
            <a:avLst/>
          </a:prstGeom>
        </p:spPr>
      </p:pic>
      <p:pic>
        <p:nvPicPr>
          <p:cNvPr id="8" name="Picture 7" descr="a00df6aa-f17d-46a2-bd3c-e54b10476664.png"/>
          <p:cNvPicPr>
            <a:picLocks noChangeAspect="1"/>
          </p:cNvPicPr>
          <p:nvPr/>
        </p:nvPicPr>
        <p:blipFill>
          <a:blip r:embed="rId3"/>
          <a:stretch>
            <a:fillRect/>
          </a:stretch>
        </p:blipFill>
        <p:spPr>
          <a:xfrm>
            <a:off x="8591550" y="1785937"/>
            <a:ext cx="2790825" cy="1095375"/>
          </a:xfrm>
          <a:prstGeom prst="rect">
            <a:avLst/>
          </a:prstGeom>
        </p:spPr>
      </p:pic>
      <p:pic>
        <p:nvPicPr>
          <p:cNvPr id="9" name="Picture 8" descr="a00df6aa-f17d-46a2-bd3c-e54b10476664.png"/>
          <p:cNvPicPr>
            <a:picLocks noChangeAspect="1"/>
          </p:cNvPicPr>
          <p:nvPr/>
        </p:nvPicPr>
        <p:blipFill>
          <a:blip r:embed="rId3"/>
          <a:stretch>
            <a:fillRect/>
          </a:stretch>
        </p:blipFill>
        <p:spPr>
          <a:xfrm>
            <a:off x="8591550" y="2881312"/>
            <a:ext cx="2790825" cy="1095375"/>
          </a:xfrm>
          <a:prstGeom prst="rect">
            <a:avLst/>
          </a:prstGeom>
        </p:spPr>
      </p:pic>
      <p:sp>
        <p:nvSpPr>
          <p:cNvPr id="10" name="TextBox 9"/>
          <p:cNvSpPr txBox="1"/>
          <p:nvPr/>
        </p:nvSpPr>
        <p:spPr>
          <a:xfrm>
            <a:off x="809625" y="3181052"/>
            <a:ext cx="2523380" cy="495300"/>
          </a:xfrm>
          <a:prstGeom prst="rect">
            <a:avLst/>
          </a:prstGeom>
          <a:noFill/>
          <a:ln>
            <a:noFill/>
          </a:ln>
          <a:effectLst>
            <a:outerShdw>
              <a:srgbClr val="000000">
                <a:alpha val="0"/>
              </a:srgbClr>
            </a:outerShdw>
          </a:effectLst>
        </p:spPr>
        <p:txBody>
          <a:bodyPr wrap="square" lIns="0" tIns="0" rIns="0" bIns="0">
            <a:spAutoFit/>
          </a:bodyPr>
          <a:lstStyle/>
          <a:p>
            <a:pPr>
              <a:lnSpc>
                <a:spcPct val="120000"/>
              </a:lnSpc>
              <a:defRPr sz="3202" b="1" i="0">
                <a:solidFill>
                  <a:srgbClr val="EFF5F1"/>
                </a:solidFill>
                <a:latin typeface="Instrument Sans"/>
              </a:defRPr>
            </a:pPr>
            <a:r>
              <a:rPr sz="3202" b="1" i="0">
                <a:solidFill>
                  <a:srgbClr val="EFF5F1"/>
                </a:solidFill>
                <a:latin typeface="Instrument Sans"/>
              </a:rPr>
              <a:t>Цель проекта</a:t>
            </a:r>
          </a:p>
        </p:txBody>
      </p:sp>
      <p:sp>
        <p:nvSpPr>
          <p:cNvPr id="11" name="TextBox 10"/>
          <p:cNvSpPr txBox="1"/>
          <p:nvPr/>
        </p:nvSpPr>
        <p:spPr>
          <a:xfrm>
            <a:off x="6070252" y="1144934"/>
            <a:ext cx="1882675" cy="420290"/>
          </a:xfrm>
          <a:prstGeom prst="rect">
            <a:avLst/>
          </a:prstGeom>
          <a:noFill/>
          <a:ln>
            <a:noFill/>
          </a:ln>
          <a:effectLst>
            <a:outerShdw>
              <a:srgbClr val="000000">
                <a:alpha val="0"/>
              </a:srgbClr>
            </a:outerShdw>
          </a:effectLst>
        </p:spPr>
        <p:txBody>
          <a:bodyPr wrap="square" lIns="0" tIns="0" rIns="0" bIns="0">
            <a:spAutoFit/>
          </a:bodyPr>
          <a:lstStyle/>
          <a:p>
            <a:pPr>
              <a:lnSpc>
                <a:spcPct val="104000"/>
              </a:lnSpc>
              <a:defRPr sz="869" b="0" i="0">
                <a:solidFill>
                  <a:srgbClr val="EFF5F1"/>
                </a:solidFill>
                <a:latin typeface="Instrument Sans"/>
              </a:defRPr>
            </a:pPr>
            <a:r>
              <a:rPr sz="869" b="0" i="0">
                <a:solidFill>
                  <a:srgbClr val="EFF5F1"/>
                </a:solidFill>
                <a:latin typeface="Instrument Sans"/>
              </a:rPr>
              <a:t>Создать инструмент автоматической подготовки полётной миссии БПЛА для аэрофотосъёмки карьеров.</a:t>
            </a:r>
          </a:p>
        </p:txBody>
      </p:sp>
      <p:sp>
        <p:nvSpPr>
          <p:cNvPr id="12" name="TextBox 11"/>
          <p:cNvSpPr txBox="1"/>
          <p:nvPr/>
        </p:nvSpPr>
        <p:spPr>
          <a:xfrm>
            <a:off x="6070252" y="3036837"/>
            <a:ext cx="1452562" cy="434429"/>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1357" b="1" i="0">
                <a:solidFill>
                  <a:srgbClr val="EFF5F1"/>
                </a:solidFill>
                <a:latin typeface="Instrument Sans"/>
              </a:defRPr>
            </a:pPr>
            <a:r>
              <a:rPr sz="1357" b="1" i="0">
                <a:solidFill>
                  <a:srgbClr val="EFF5F1"/>
                </a:solidFill>
                <a:latin typeface="Instrument Sans"/>
              </a:rPr>
              <a:t>Маршрут Nearest Neighbor</a:t>
            </a:r>
          </a:p>
        </p:txBody>
      </p:sp>
      <p:sp>
        <p:nvSpPr>
          <p:cNvPr id="13" name="TextBox 12"/>
          <p:cNvSpPr txBox="1"/>
          <p:nvPr/>
        </p:nvSpPr>
        <p:spPr>
          <a:xfrm>
            <a:off x="6070252" y="4502794"/>
            <a:ext cx="2116633" cy="276820"/>
          </a:xfrm>
          <a:prstGeom prst="rect">
            <a:avLst/>
          </a:prstGeom>
          <a:noFill/>
          <a:ln>
            <a:noFill/>
          </a:ln>
          <a:effectLst>
            <a:outerShdw>
              <a:srgbClr val="000000">
                <a:alpha val="0"/>
              </a:srgbClr>
            </a:outerShdw>
          </a:effectLst>
        </p:spPr>
        <p:txBody>
          <a:bodyPr wrap="square" lIns="0" tIns="0" rIns="0" bIns="0">
            <a:spAutoFit/>
          </a:bodyPr>
          <a:lstStyle/>
          <a:p>
            <a:pPr>
              <a:lnSpc>
                <a:spcPct val="104000"/>
              </a:lnSpc>
              <a:defRPr sz="869" b="0" i="0">
                <a:solidFill>
                  <a:srgbClr val="EFF5F1"/>
                </a:solidFill>
                <a:latin typeface="Instrument Sans"/>
              </a:defRPr>
            </a:pPr>
            <a:r>
              <a:rPr sz="869" b="0" i="0">
                <a:solidFill>
                  <a:srgbClr val="EFF5F1"/>
                </a:solidFill>
                <a:latin typeface="Instrument Sans"/>
              </a:rPr>
              <a:t>Улучшить маршрут с помощью алгоритма 2-opt для сокращения длины.</a:t>
            </a:r>
          </a:p>
        </p:txBody>
      </p:sp>
      <p:sp>
        <p:nvSpPr>
          <p:cNvPr id="14" name="TextBox 13"/>
          <p:cNvSpPr txBox="1"/>
          <p:nvPr/>
        </p:nvSpPr>
        <p:spPr>
          <a:xfrm>
            <a:off x="9242077" y="2312044"/>
            <a:ext cx="2094458" cy="276820"/>
          </a:xfrm>
          <a:prstGeom prst="rect">
            <a:avLst/>
          </a:prstGeom>
          <a:noFill/>
          <a:ln>
            <a:noFill/>
          </a:ln>
          <a:effectLst>
            <a:outerShdw>
              <a:srgbClr val="000000">
                <a:alpha val="0"/>
              </a:srgbClr>
            </a:outerShdw>
          </a:effectLst>
        </p:spPr>
        <p:txBody>
          <a:bodyPr wrap="square" lIns="0" tIns="0" rIns="0" bIns="0">
            <a:spAutoFit/>
          </a:bodyPr>
          <a:lstStyle/>
          <a:p>
            <a:pPr>
              <a:lnSpc>
                <a:spcPct val="104000"/>
              </a:lnSpc>
              <a:defRPr sz="869" b="0" i="0">
                <a:solidFill>
                  <a:srgbClr val="EFF5F1"/>
                </a:solidFill>
                <a:latin typeface="Instrument Sans"/>
              </a:defRPr>
            </a:pPr>
            <a:r>
              <a:rPr sz="869" b="0" i="0">
                <a:solidFill>
                  <a:srgbClr val="EFF5F1"/>
                </a:solidFill>
                <a:latin typeface="Instrument Sans"/>
              </a:rPr>
              <a:t>Создать наглядную визуализацию маршрута в формате PNG.</a:t>
            </a:r>
          </a:p>
        </p:txBody>
      </p:sp>
      <p:sp>
        <p:nvSpPr>
          <p:cNvPr id="15" name="TextBox 14"/>
          <p:cNvSpPr txBox="1"/>
          <p:nvPr/>
        </p:nvSpPr>
        <p:spPr>
          <a:xfrm>
            <a:off x="6070252" y="5598169"/>
            <a:ext cx="2076598" cy="276820"/>
          </a:xfrm>
          <a:prstGeom prst="rect">
            <a:avLst/>
          </a:prstGeom>
          <a:noFill/>
          <a:ln>
            <a:noFill/>
          </a:ln>
          <a:effectLst>
            <a:outerShdw>
              <a:srgbClr val="000000">
                <a:alpha val="0"/>
              </a:srgbClr>
            </a:outerShdw>
          </a:effectLst>
        </p:spPr>
        <p:txBody>
          <a:bodyPr wrap="square" lIns="0" tIns="0" rIns="0" bIns="0">
            <a:spAutoFit/>
          </a:bodyPr>
          <a:lstStyle/>
          <a:p>
            <a:pPr>
              <a:lnSpc>
                <a:spcPct val="104000"/>
              </a:lnSpc>
              <a:defRPr sz="869" b="0" i="0">
                <a:solidFill>
                  <a:srgbClr val="EFF5F1"/>
                </a:solidFill>
                <a:latin typeface="Instrument Sans"/>
              </a:defRPr>
            </a:pPr>
            <a:r>
              <a:rPr sz="869" b="0" i="0">
                <a:solidFill>
                  <a:srgbClr val="EFF5F1"/>
                </a:solidFill>
                <a:latin typeface="Instrument Sans"/>
              </a:rPr>
              <a:t>Рассчитать длину маршрута, время полёта и расход батареи БПЛА.</a:t>
            </a:r>
          </a:p>
        </p:txBody>
      </p:sp>
      <p:sp>
        <p:nvSpPr>
          <p:cNvPr id="16" name="TextBox 15"/>
          <p:cNvSpPr txBox="1"/>
          <p:nvPr/>
        </p:nvSpPr>
        <p:spPr>
          <a:xfrm>
            <a:off x="6070252" y="2312044"/>
            <a:ext cx="2076003" cy="276820"/>
          </a:xfrm>
          <a:prstGeom prst="rect">
            <a:avLst/>
          </a:prstGeom>
          <a:noFill/>
          <a:ln>
            <a:noFill/>
          </a:ln>
          <a:effectLst>
            <a:outerShdw>
              <a:srgbClr val="000000">
                <a:alpha val="0"/>
              </a:srgbClr>
            </a:outerShdw>
          </a:effectLst>
        </p:spPr>
        <p:txBody>
          <a:bodyPr wrap="square" lIns="0" tIns="0" rIns="0" bIns="0">
            <a:spAutoFit/>
          </a:bodyPr>
          <a:lstStyle/>
          <a:p>
            <a:pPr>
              <a:lnSpc>
                <a:spcPct val="104000"/>
              </a:lnSpc>
              <a:defRPr sz="869" b="0" i="0">
                <a:solidFill>
                  <a:srgbClr val="EFF5F1"/>
                </a:solidFill>
                <a:latin typeface="Instrument Sans"/>
              </a:defRPr>
            </a:pPr>
            <a:r>
              <a:rPr sz="869" b="0" i="0">
                <a:solidFill>
                  <a:srgbClr val="EFF5F1"/>
                </a:solidFill>
                <a:latin typeface="Instrument Sans"/>
              </a:rPr>
              <a:t>Реализовать построение сетки точек съёмки по полигону карьера.</a:t>
            </a:r>
          </a:p>
        </p:txBody>
      </p:sp>
      <p:sp>
        <p:nvSpPr>
          <p:cNvPr id="17" name="TextBox 16"/>
          <p:cNvSpPr txBox="1"/>
          <p:nvPr/>
        </p:nvSpPr>
        <p:spPr>
          <a:xfrm>
            <a:off x="9242077" y="3407419"/>
            <a:ext cx="1993255" cy="276820"/>
          </a:xfrm>
          <a:prstGeom prst="rect">
            <a:avLst/>
          </a:prstGeom>
          <a:noFill/>
          <a:ln>
            <a:noFill/>
          </a:ln>
          <a:effectLst>
            <a:outerShdw>
              <a:srgbClr val="000000">
                <a:alpha val="0"/>
              </a:srgbClr>
            </a:outerShdw>
          </a:effectLst>
        </p:spPr>
        <p:txBody>
          <a:bodyPr wrap="square" lIns="0" tIns="0" rIns="0" bIns="0">
            <a:spAutoFit/>
          </a:bodyPr>
          <a:lstStyle/>
          <a:p>
            <a:pPr>
              <a:lnSpc>
                <a:spcPct val="104000"/>
              </a:lnSpc>
              <a:defRPr sz="869" b="0" i="0">
                <a:solidFill>
                  <a:srgbClr val="EFF5F1"/>
                </a:solidFill>
                <a:latin typeface="Instrument Sans"/>
              </a:defRPr>
            </a:pPr>
            <a:r>
              <a:rPr sz="869" b="0" i="0">
                <a:solidFill>
                  <a:srgbClr val="EFF5F1"/>
                </a:solidFill>
                <a:latin typeface="Instrument Sans"/>
              </a:rPr>
              <a:t>Предоставить REST API для интеграции с наземными станциями управления.</a:t>
            </a:r>
          </a:p>
        </p:txBody>
      </p:sp>
      <p:sp>
        <p:nvSpPr>
          <p:cNvPr id="18" name="TextBox 17"/>
          <p:cNvSpPr txBox="1"/>
          <p:nvPr/>
        </p:nvSpPr>
        <p:spPr>
          <a:xfrm>
            <a:off x="9242077" y="1216669"/>
            <a:ext cx="1859905" cy="276820"/>
          </a:xfrm>
          <a:prstGeom prst="rect">
            <a:avLst/>
          </a:prstGeom>
          <a:noFill/>
          <a:ln>
            <a:noFill/>
          </a:ln>
          <a:effectLst>
            <a:outerShdw>
              <a:srgbClr val="000000">
                <a:alpha val="0"/>
              </a:srgbClr>
            </a:outerShdw>
          </a:effectLst>
        </p:spPr>
        <p:txBody>
          <a:bodyPr wrap="square" lIns="0" tIns="0" rIns="0" bIns="0">
            <a:spAutoFit/>
          </a:bodyPr>
          <a:lstStyle/>
          <a:p>
            <a:pPr>
              <a:lnSpc>
                <a:spcPct val="104000"/>
              </a:lnSpc>
              <a:defRPr sz="869" b="0" i="0">
                <a:solidFill>
                  <a:srgbClr val="EFF5F1"/>
                </a:solidFill>
                <a:latin typeface="Instrument Sans"/>
              </a:defRPr>
            </a:pPr>
            <a:r>
              <a:rPr sz="869" b="0" i="0">
                <a:solidFill>
                  <a:srgbClr val="EFF5F1"/>
                </a:solidFill>
                <a:latin typeface="Instrument Sans"/>
              </a:rPr>
              <a:t>Сформировать готовый к загрузке файл миссии </a:t>
            </a:r>
            <a:r>
              <a:rPr sz="869" b="1" i="0">
                <a:solidFill>
                  <a:srgbClr val="EFF5F1"/>
                </a:solidFill>
                <a:latin typeface="Instrument Sans"/>
              </a:rPr>
              <a:t>mission.json</a:t>
            </a:r>
            <a:r>
              <a:rPr sz="869" b="0" i="0">
                <a:solidFill>
                  <a:srgbClr val="EFF5F1"/>
                </a:solidFill>
                <a:latin typeface="Instrument Sans"/>
              </a:rPr>
              <a:t>.</a:t>
            </a:r>
          </a:p>
        </p:txBody>
      </p:sp>
      <p:sp>
        <p:nvSpPr>
          <p:cNvPr id="19" name="TextBox 18"/>
          <p:cNvSpPr txBox="1"/>
          <p:nvPr/>
        </p:nvSpPr>
        <p:spPr>
          <a:xfrm>
            <a:off x="6070252" y="3515171"/>
            <a:ext cx="1840408" cy="276820"/>
          </a:xfrm>
          <a:prstGeom prst="rect">
            <a:avLst/>
          </a:prstGeom>
          <a:noFill/>
          <a:ln>
            <a:noFill/>
          </a:ln>
          <a:effectLst>
            <a:outerShdw>
              <a:srgbClr val="000000">
                <a:alpha val="0"/>
              </a:srgbClr>
            </a:outerShdw>
          </a:effectLst>
        </p:spPr>
        <p:txBody>
          <a:bodyPr wrap="square" lIns="0" tIns="0" rIns="0" bIns="0">
            <a:spAutoFit/>
          </a:bodyPr>
          <a:lstStyle/>
          <a:p>
            <a:pPr>
              <a:lnSpc>
                <a:spcPct val="104000"/>
              </a:lnSpc>
              <a:defRPr sz="869" b="0" i="0">
                <a:solidFill>
                  <a:srgbClr val="EFF5F1"/>
                </a:solidFill>
                <a:latin typeface="Instrument Sans"/>
              </a:defRPr>
            </a:pPr>
            <a:r>
              <a:rPr sz="869" b="0" i="0">
                <a:solidFill>
                  <a:srgbClr val="EFF5F1"/>
                </a:solidFill>
                <a:latin typeface="Instrument Sans"/>
              </a:rPr>
              <a:t>Построить первичный маршрут облёта алгоритмом ближайшего соседа.</a:t>
            </a:r>
          </a:p>
        </p:txBody>
      </p:sp>
      <p:sp>
        <p:nvSpPr>
          <p:cNvPr id="20" name="TextBox 19"/>
          <p:cNvSpPr txBox="1"/>
          <p:nvPr/>
        </p:nvSpPr>
        <p:spPr>
          <a:xfrm>
            <a:off x="9242077" y="2049065"/>
            <a:ext cx="1943695" cy="219075"/>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1357" b="1" i="0">
                <a:solidFill>
                  <a:srgbClr val="EFF5F1"/>
                </a:solidFill>
                <a:latin typeface="Instrument Sans"/>
              </a:defRPr>
            </a:pPr>
            <a:r>
              <a:rPr sz="1357" b="1" i="0">
                <a:solidFill>
                  <a:srgbClr val="EFF5F1"/>
                </a:solidFill>
                <a:latin typeface="Instrument Sans"/>
              </a:rPr>
              <a:t>Визуализация маршрута</a:t>
            </a:r>
          </a:p>
        </p:txBody>
      </p:sp>
      <p:sp>
        <p:nvSpPr>
          <p:cNvPr id="21" name="TextBox 20"/>
          <p:cNvSpPr txBox="1"/>
          <p:nvPr/>
        </p:nvSpPr>
        <p:spPr>
          <a:xfrm>
            <a:off x="6070252" y="2049065"/>
            <a:ext cx="1783258" cy="219075"/>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1357" b="1" i="0">
                <a:solidFill>
                  <a:srgbClr val="EFF5F1"/>
                </a:solidFill>
                <a:latin typeface="Instrument Sans"/>
              </a:defRPr>
            </a:pPr>
            <a:r>
              <a:rPr sz="1357" b="1" i="0">
                <a:solidFill>
                  <a:srgbClr val="EFF5F1"/>
                </a:solidFill>
                <a:latin typeface="Instrument Sans"/>
              </a:rPr>
              <a:t>Генерация сетки точек</a:t>
            </a:r>
          </a:p>
        </p:txBody>
      </p:sp>
      <p:sp>
        <p:nvSpPr>
          <p:cNvPr id="22" name="TextBox 21"/>
          <p:cNvSpPr txBox="1"/>
          <p:nvPr/>
        </p:nvSpPr>
        <p:spPr>
          <a:xfrm>
            <a:off x="6070252" y="4239815"/>
            <a:ext cx="1586656" cy="219075"/>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1357" b="1" i="0">
                <a:solidFill>
                  <a:srgbClr val="EFF5F1"/>
                </a:solidFill>
                <a:latin typeface="Instrument Sans"/>
              </a:defRPr>
            </a:pPr>
            <a:r>
              <a:rPr sz="1357" b="1" i="0">
                <a:solidFill>
                  <a:srgbClr val="EFF5F1"/>
                </a:solidFill>
                <a:latin typeface="Instrument Sans"/>
              </a:rPr>
              <a:t>Оптимизация 2-opt</a:t>
            </a:r>
          </a:p>
        </p:txBody>
      </p:sp>
      <p:sp>
        <p:nvSpPr>
          <p:cNvPr id="23" name="TextBox 22"/>
          <p:cNvSpPr txBox="1"/>
          <p:nvPr/>
        </p:nvSpPr>
        <p:spPr>
          <a:xfrm>
            <a:off x="6070252" y="5335190"/>
            <a:ext cx="1494085" cy="219075"/>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1357" b="1" i="0">
                <a:solidFill>
                  <a:srgbClr val="EFF5F1"/>
                </a:solidFill>
                <a:latin typeface="Instrument Sans"/>
              </a:defRPr>
            </a:pPr>
            <a:r>
              <a:rPr sz="1357" b="1" i="0">
                <a:solidFill>
                  <a:srgbClr val="EFF5F1"/>
                </a:solidFill>
                <a:latin typeface="Instrument Sans"/>
              </a:rPr>
              <a:t>Расчёт параметров</a:t>
            </a:r>
          </a:p>
        </p:txBody>
      </p:sp>
      <p:sp>
        <p:nvSpPr>
          <p:cNvPr id="24" name="Rounded Rectangle 23"/>
          <p:cNvSpPr/>
          <p:nvPr/>
        </p:nvSpPr>
        <p:spPr>
          <a:xfrm>
            <a:off x="5419725" y="891480"/>
            <a:ext cx="507652" cy="507652"/>
          </a:xfrm>
          <a:prstGeom prst="roundRect">
            <a:avLst>
              <a:gd name="adj" fmla="val 5000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Rounded Rectangle 24"/>
          <p:cNvSpPr/>
          <p:nvPr/>
        </p:nvSpPr>
        <p:spPr>
          <a:xfrm>
            <a:off x="5419725" y="2058590"/>
            <a:ext cx="507652" cy="507652"/>
          </a:xfrm>
          <a:prstGeom prst="roundRect">
            <a:avLst>
              <a:gd name="adj" fmla="val 5000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ounded Rectangle 25"/>
          <p:cNvSpPr/>
          <p:nvPr/>
        </p:nvSpPr>
        <p:spPr>
          <a:xfrm>
            <a:off x="5419725" y="3046362"/>
            <a:ext cx="507652" cy="507652"/>
          </a:xfrm>
          <a:prstGeom prst="roundRect">
            <a:avLst>
              <a:gd name="adj" fmla="val 5000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Rounded Rectangle 26"/>
          <p:cNvSpPr/>
          <p:nvPr/>
        </p:nvSpPr>
        <p:spPr>
          <a:xfrm>
            <a:off x="5419725" y="4249340"/>
            <a:ext cx="507652" cy="507652"/>
          </a:xfrm>
          <a:prstGeom prst="roundRect">
            <a:avLst>
              <a:gd name="adj" fmla="val 5000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ounded Rectangle 27"/>
          <p:cNvSpPr/>
          <p:nvPr/>
        </p:nvSpPr>
        <p:spPr>
          <a:xfrm>
            <a:off x="5419725" y="5344715"/>
            <a:ext cx="507652" cy="507652"/>
          </a:xfrm>
          <a:prstGeom prst="roundRect">
            <a:avLst>
              <a:gd name="adj" fmla="val 5000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Rounded Rectangle 28"/>
          <p:cNvSpPr/>
          <p:nvPr/>
        </p:nvSpPr>
        <p:spPr>
          <a:xfrm>
            <a:off x="8591550" y="963215"/>
            <a:ext cx="507652" cy="507652"/>
          </a:xfrm>
          <a:prstGeom prst="roundRect">
            <a:avLst>
              <a:gd name="adj" fmla="val 5000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Rounded Rectangle 29"/>
          <p:cNvSpPr/>
          <p:nvPr/>
        </p:nvSpPr>
        <p:spPr>
          <a:xfrm>
            <a:off x="8591550" y="2058590"/>
            <a:ext cx="507652" cy="507652"/>
          </a:xfrm>
          <a:prstGeom prst="roundRect">
            <a:avLst>
              <a:gd name="adj" fmla="val 5000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8591550" y="3153965"/>
            <a:ext cx="507652" cy="507652"/>
          </a:xfrm>
          <a:prstGeom prst="roundRect">
            <a:avLst>
              <a:gd name="adj" fmla="val 5000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9242077" y="953690"/>
            <a:ext cx="1050726" cy="219075"/>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1357" b="1" i="0">
                <a:solidFill>
                  <a:srgbClr val="EFF5F1"/>
                </a:solidFill>
                <a:latin typeface="Instrument Sans"/>
              </a:defRPr>
            </a:pPr>
            <a:r>
              <a:rPr sz="1357" b="1" i="0">
                <a:solidFill>
                  <a:srgbClr val="EFF5F1"/>
                </a:solidFill>
                <a:latin typeface="Instrument Sans"/>
              </a:rPr>
              <a:t>Файл миссии</a:t>
            </a:r>
          </a:p>
        </p:txBody>
      </p:sp>
      <p:sp>
        <p:nvSpPr>
          <p:cNvPr id="33" name="TextBox 32"/>
          <p:cNvSpPr txBox="1"/>
          <p:nvPr/>
        </p:nvSpPr>
        <p:spPr>
          <a:xfrm>
            <a:off x="9242077" y="3144440"/>
            <a:ext cx="781645" cy="219075"/>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1357" b="1" i="0">
                <a:solidFill>
                  <a:srgbClr val="EFF5F1"/>
                </a:solidFill>
                <a:latin typeface="Instrument Sans"/>
              </a:defRPr>
            </a:pPr>
            <a:r>
              <a:rPr sz="1357" b="1" i="0">
                <a:solidFill>
                  <a:srgbClr val="EFF5F1"/>
                </a:solidFill>
                <a:latin typeface="Instrument Sans"/>
              </a:rPr>
              <a:t>REST API</a:t>
            </a:r>
          </a:p>
        </p:txBody>
      </p:sp>
      <p:sp>
        <p:nvSpPr>
          <p:cNvPr id="34" name="TextBox 33"/>
          <p:cNvSpPr txBox="1"/>
          <p:nvPr/>
        </p:nvSpPr>
        <p:spPr>
          <a:xfrm>
            <a:off x="6070252" y="881955"/>
            <a:ext cx="417611" cy="219075"/>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1357" b="1" i="0">
                <a:solidFill>
                  <a:srgbClr val="EFF5F1"/>
                </a:solidFill>
                <a:latin typeface="Instrument Sans"/>
              </a:defRPr>
            </a:pPr>
            <a:r>
              <a:rPr sz="1357" b="1" i="0">
                <a:solidFill>
                  <a:srgbClr val="EFF5F1"/>
                </a:solidFill>
                <a:latin typeface="Instrument Sans"/>
              </a:rPr>
              <a:t>Цель</a:t>
            </a:r>
          </a:p>
        </p:txBody>
      </p:sp>
      <p:sp>
        <p:nvSpPr>
          <p:cNvPr id="35" name="TextBox 34"/>
          <p:cNvSpPr txBox="1"/>
          <p:nvPr/>
        </p:nvSpPr>
        <p:spPr>
          <a:xfrm>
            <a:off x="8794253" y="1135112"/>
            <a:ext cx="121146" cy="163859"/>
          </a:xfrm>
          <a:prstGeom prst="rect">
            <a:avLst/>
          </a:prstGeom>
          <a:noFill/>
          <a:ln>
            <a:noFill/>
          </a:ln>
          <a:effectLst>
            <a:outerShdw>
              <a:srgbClr val="000000">
                <a:alpha val="0"/>
              </a:srgbClr>
            </a:outerShdw>
          </a:effectLst>
        </p:spPr>
        <p:txBody>
          <a:bodyPr wrap="square" lIns="0" tIns="0" rIns="0" bIns="0">
            <a:spAutoFit/>
          </a:bodyPr>
          <a:lstStyle/>
          <a:p>
            <a:pPr>
              <a:lnSpc>
                <a:spcPct val="80000"/>
              </a:lnSpc>
              <a:defRPr sz="1289" b="1" i="0">
                <a:solidFill>
                  <a:srgbClr val="EFF5F1"/>
                </a:solidFill>
                <a:latin typeface="Instrument Sans"/>
              </a:defRPr>
            </a:pPr>
            <a:r>
              <a:rPr sz="1289" b="1" i="0">
                <a:solidFill>
                  <a:srgbClr val="EFF5F1"/>
                </a:solidFill>
                <a:latin typeface="Instrument Sans"/>
              </a:rPr>
              <a:t>6</a:t>
            </a:r>
          </a:p>
        </p:txBody>
      </p:sp>
      <p:sp>
        <p:nvSpPr>
          <p:cNvPr id="36" name="TextBox 35"/>
          <p:cNvSpPr txBox="1"/>
          <p:nvPr/>
        </p:nvSpPr>
        <p:spPr>
          <a:xfrm>
            <a:off x="5622577" y="4421237"/>
            <a:ext cx="120997" cy="163859"/>
          </a:xfrm>
          <a:prstGeom prst="rect">
            <a:avLst/>
          </a:prstGeom>
          <a:noFill/>
          <a:ln>
            <a:noFill/>
          </a:ln>
          <a:effectLst>
            <a:outerShdw>
              <a:srgbClr val="000000">
                <a:alpha val="0"/>
              </a:srgbClr>
            </a:outerShdw>
          </a:effectLst>
        </p:spPr>
        <p:txBody>
          <a:bodyPr wrap="square" lIns="0" tIns="0" rIns="0" bIns="0">
            <a:spAutoFit/>
          </a:bodyPr>
          <a:lstStyle/>
          <a:p>
            <a:pPr>
              <a:lnSpc>
                <a:spcPct val="80000"/>
              </a:lnSpc>
              <a:defRPr sz="1289" b="1" i="0">
                <a:solidFill>
                  <a:srgbClr val="FFFFFF"/>
                </a:solidFill>
                <a:latin typeface="Instrument Sans"/>
              </a:defRPr>
            </a:pPr>
            <a:r>
              <a:rPr sz="1289" b="1" i="0">
                <a:solidFill>
                  <a:srgbClr val="FFFFFF"/>
                </a:solidFill>
                <a:latin typeface="Instrument Sans"/>
              </a:rPr>
              <a:t>4</a:t>
            </a:r>
          </a:p>
        </p:txBody>
      </p:sp>
      <p:sp>
        <p:nvSpPr>
          <p:cNvPr id="37" name="TextBox 36"/>
          <p:cNvSpPr txBox="1"/>
          <p:nvPr/>
        </p:nvSpPr>
        <p:spPr>
          <a:xfrm>
            <a:off x="8795593" y="3325862"/>
            <a:ext cx="118467" cy="163859"/>
          </a:xfrm>
          <a:prstGeom prst="rect">
            <a:avLst/>
          </a:prstGeom>
          <a:noFill/>
          <a:ln>
            <a:noFill/>
          </a:ln>
          <a:effectLst>
            <a:outerShdw>
              <a:srgbClr val="000000">
                <a:alpha val="0"/>
              </a:srgbClr>
            </a:outerShdw>
          </a:effectLst>
        </p:spPr>
        <p:txBody>
          <a:bodyPr wrap="square" lIns="0" tIns="0" rIns="0" bIns="0">
            <a:spAutoFit/>
          </a:bodyPr>
          <a:lstStyle/>
          <a:p>
            <a:pPr>
              <a:lnSpc>
                <a:spcPct val="80000"/>
              </a:lnSpc>
              <a:defRPr sz="1289" b="1" i="0">
                <a:solidFill>
                  <a:srgbClr val="EFF5F1"/>
                </a:solidFill>
                <a:latin typeface="Instrument Sans"/>
              </a:defRPr>
            </a:pPr>
            <a:r>
              <a:rPr sz="1289" b="1" i="0">
                <a:solidFill>
                  <a:srgbClr val="EFF5F1"/>
                </a:solidFill>
                <a:latin typeface="Instrument Sans"/>
              </a:rPr>
              <a:t>8</a:t>
            </a:r>
          </a:p>
        </p:txBody>
      </p:sp>
      <p:sp>
        <p:nvSpPr>
          <p:cNvPr id="38" name="TextBox 37"/>
          <p:cNvSpPr txBox="1"/>
          <p:nvPr/>
        </p:nvSpPr>
        <p:spPr>
          <a:xfrm>
            <a:off x="5625554" y="5516612"/>
            <a:ext cx="114895" cy="163859"/>
          </a:xfrm>
          <a:prstGeom prst="rect">
            <a:avLst/>
          </a:prstGeom>
          <a:noFill/>
          <a:ln>
            <a:noFill/>
          </a:ln>
          <a:effectLst>
            <a:outerShdw>
              <a:srgbClr val="000000">
                <a:alpha val="0"/>
              </a:srgbClr>
            </a:outerShdw>
          </a:effectLst>
        </p:spPr>
        <p:txBody>
          <a:bodyPr wrap="square" lIns="0" tIns="0" rIns="0" bIns="0">
            <a:spAutoFit/>
          </a:bodyPr>
          <a:lstStyle/>
          <a:p>
            <a:pPr>
              <a:lnSpc>
                <a:spcPct val="80000"/>
              </a:lnSpc>
              <a:defRPr sz="1289" b="1" i="0">
                <a:solidFill>
                  <a:srgbClr val="FFFFFF"/>
                </a:solidFill>
                <a:latin typeface="Instrument Sans"/>
              </a:defRPr>
            </a:pPr>
            <a:r>
              <a:rPr sz="1289" b="1" i="0">
                <a:solidFill>
                  <a:srgbClr val="FFFFFF"/>
                </a:solidFill>
                <a:latin typeface="Instrument Sans"/>
              </a:rPr>
              <a:t>5</a:t>
            </a:r>
          </a:p>
        </p:txBody>
      </p:sp>
      <p:sp>
        <p:nvSpPr>
          <p:cNvPr id="39" name="TextBox 38"/>
          <p:cNvSpPr txBox="1"/>
          <p:nvPr/>
        </p:nvSpPr>
        <p:spPr>
          <a:xfrm>
            <a:off x="5625851" y="3218259"/>
            <a:ext cx="114448" cy="163859"/>
          </a:xfrm>
          <a:prstGeom prst="rect">
            <a:avLst/>
          </a:prstGeom>
          <a:noFill/>
          <a:ln>
            <a:noFill/>
          </a:ln>
          <a:effectLst>
            <a:outerShdw>
              <a:srgbClr val="000000">
                <a:alpha val="0"/>
              </a:srgbClr>
            </a:outerShdw>
          </a:effectLst>
        </p:spPr>
        <p:txBody>
          <a:bodyPr wrap="square" lIns="0" tIns="0" rIns="0" bIns="0">
            <a:spAutoFit/>
          </a:bodyPr>
          <a:lstStyle/>
          <a:p>
            <a:pPr>
              <a:lnSpc>
                <a:spcPct val="80000"/>
              </a:lnSpc>
              <a:defRPr sz="1289" b="1" i="0">
                <a:solidFill>
                  <a:srgbClr val="FFFFFF"/>
                </a:solidFill>
                <a:latin typeface="Instrument Sans"/>
              </a:defRPr>
            </a:pPr>
            <a:r>
              <a:rPr sz="1289" b="1" i="0">
                <a:solidFill>
                  <a:srgbClr val="FFFFFF"/>
                </a:solidFill>
                <a:latin typeface="Instrument Sans"/>
              </a:rPr>
              <a:t>3</a:t>
            </a:r>
          </a:p>
        </p:txBody>
      </p:sp>
      <p:sp>
        <p:nvSpPr>
          <p:cNvPr id="40" name="TextBox 39"/>
          <p:cNvSpPr txBox="1"/>
          <p:nvPr/>
        </p:nvSpPr>
        <p:spPr>
          <a:xfrm>
            <a:off x="8798272" y="2230487"/>
            <a:ext cx="113258" cy="163859"/>
          </a:xfrm>
          <a:prstGeom prst="rect">
            <a:avLst/>
          </a:prstGeom>
          <a:noFill/>
          <a:ln>
            <a:noFill/>
          </a:ln>
          <a:effectLst>
            <a:outerShdw>
              <a:srgbClr val="000000">
                <a:alpha val="0"/>
              </a:srgbClr>
            </a:outerShdw>
          </a:effectLst>
        </p:spPr>
        <p:txBody>
          <a:bodyPr wrap="square" lIns="0" tIns="0" rIns="0" bIns="0">
            <a:spAutoFit/>
          </a:bodyPr>
          <a:lstStyle/>
          <a:p>
            <a:pPr>
              <a:lnSpc>
                <a:spcPct val="80000"/>
              </a:lnSpc>
              <a:defRPr sz="1289" b="1" i="0">
                <a:solidFill>
                  <a:srgbClr val="EFF5F1"/>
                </a:solidFill>
                <a:latin typeface="Instrument Sans"/>
              </a:defRPr>
            </a:pPr>
            <a:r>
              <a:rPr sz="1289" b="1" i="0">
                <a:solidFill>
                  <a:srgbClr val="EFF5F1"/>
                </a:solidFill>
                <a:latin typeface="Instrument Sans"/>
              </a:rPr>
              <a:t>7</a:t>
            </a:r>
          </a:p>
        </p:txBody>
      </p:sp>
      <p:sp>
        <p:nvSpPr>
          <p:cNvPr id="41" name="TextBox 40"/>
          <p:cNvSpPr txBox="1"/>
          <p:nvPr/>
        </p:nvSpPr>
        <p:spPr>
          <a:xfrm>
            <a:off x="5627340" y="2230487"/>
            <a:ext cx="111323" cy="163859"/>
          </a:xfrm>
          <a:prstGeom prst="rect">
            <a:avLst/>
          </a:prstGeom>
          <a:noFill/>
          <a:ln>
            <a:noFill/>
          </a:ln>
          <a:effectLst>
            <a:outerShdw>
              <a:srgbClr val="000000">
                <a:alpha val="0"/>
              </a:srgbClr>
            </a:outerShdw>
          </a:effectLst>
        </p:spPr>
        <p:txBody>
          <a:bodyPr wrap="square" lIns="0" tIns="0" rIns="0" bIns="0">
            <a:spAutoFit/>
          </a:bodyPr>
          <a:lstStyle/>
          <a:p>
            <a:pPr>
              <a:lnSpc>
                <a:spcPct val="80000"/>
              </a:lnSpc>
              <a:defRPr sz="1289" b="1" i="0">
                <a:solidFill>
                  <a:srgbClr val="FFFFFF"/>
                </a:solidFill>
                <a:latin typeface="Instrument Sans"/>
              </a:defRPr>
            </a:pPr>
            <a:r>
              <a:rPr sz="1289" b="1" i="0">
                <a:solidFill>
                  <a:srgbClr val="FFFFFF"/>
                </a:solidFill>
                <a:latin typeface="Instrument Sans"/>
              </a:rPr>
              <a:t>2</a:t>
            </a:r>
          </a:p>
        </p:txBody>
      </p:sp>
      <p:sp>
        <p:nvSpPr>
          <p:cNvPr id="42" name="TextBox 41"/>
          <p:cNvSpPr txBox="1"/>
          <p:nvPr/>
        </p:nvSpPr>
        <p:spPr>
          <a:xfrm>
            <a:off x="5641925" y="1063376"/>
            <a:ext cx="82153" cy="163859"/>
          </a:xfrm>
          <a:prstGeom prst="rect">
            <a:avLst/>
          </a:prstGeom>
          <a:noFill/>
          <a:ln>
            <a:noFill/>
          </a:ln>
          <a:effectLst>
            <a:outerShdw>
              <a:srgbClr val="000000">
                <a:alpha val="0"/>
              </a:srgbClr>
            </a:outerShdw>
          </a:effectLst>
        </p:spPr>
        <p:txBody>
          <a:bodyPr wrap="square" lIns="0" tIns="0" rIns="0" bIns="0">
            <a:spAutoFit/>
          </a:bodyPr>
          <a:lstStyle/>
          <a:p>
            <a:pPr>
              <a:lnSpc>
                <a:spcPct val="80000"/>
              </a:lnSpc>
              <a:defRPr sz="1289" b="1" i="0">
                <a:solidFill>
                  <a:srgbClr val="FFFFFF"/>
                </a:solidFill>
                <a:latin typeface="Instrument Sans"/>
              </a:defRPr>
            </a:pPr>
            <a:r>
              <a:rPr sz="1289" b="1" i="0">
                <a:solidFill>
                  <a:srgbClr val="FFFFFF"/>
                </a:solidFill>
                <a:latin typeface="Instrument Sans"/>
              </a:rPr>
              <a:t>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ounded Rectangle 1"/>
          <p:cNvSpPr/>
          <p:nvPr/>
        </p:nvSpPr>
        <p:spPr>
          <a:xfrm>
            <a:off x="7258050" y="781050"/>
            <a:ext cx="3838575" cy="876300"/>
          </a:xfrm>
          <a:prstGeom prst="roundRect">
            <a:avLst>
              <a:gd name="adj" fmla="val 326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171450" tIns="0" rIns="171450" bIns="0" rtlCol="0" anchor="ctr"/>
          <a:lstStyle/>
          <a:p>
            <a:pPr algn="ctr"/>
            <a:endParaRPr/>
          </a:p>
        </p:txBody>
      </p:sp>
      <p:sp>
        <p:nvSpPr>
          <p:cNvPr id="3" name="Rounded Rectangle 2"/>
          <p:cNvSpPr/>
          <p:nvPr/>
        </p:nvSpPr>
        <p:spPr>
          <a:xfrm>
            <a:off x="7258050" y="1885950"/>
            <a:ext cx="3838575" cy="876300"/>
          </a:xfrm>
          <a:prstGeom prst="roundRect">
            <a:avLst>
              <a:gd name="adj" fmla="val 326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171450" tIns="0" rIns="171450" bIns="0" rtlCol="0" anchor="ctr"/>
          <a:lstStyle/>
          <a:p>
            <a:pPr algn="ctr"/>
            <a:endParaRPr/>
          </a:p>
        </p:txBody>
      </p:sp>
      <p:sp>
        <p:nvSpPr>
          <p:cNvPr id="4" name="Rounded Rectangle 3"/>
          <p:cNvSpPr/>
          <p:nvPr/>
        </p:nvSpPr>
        <p:spPr>
          <a:xfrm>
            <a:off x="7258050" y="2990850"/>
            <a:ext cx="3838575" cy="876300"/>
          </a:xfrm>
          <a:prstGeom prst="roundRect">
            <a:avLst>
              <a:gd name="adj" fmla="val 326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171450" tIns="0" rIns="171450" bIns="0" rtlCol="0" anchor="ctr"/>
          <a:lstStyle/>
          <a:p>
            <a:pPr algn="ctr"/>
            <a:endParaRPr/>
          </a:p>
        </p:txBody>
      </p:sp>
      <p:sp>
        <p:nvSpPr>
          <p:cNvPr id="5" name="Rounded Rectangle 4"/>
          <p:cNvSpPr/>
          <p:nvPr/>
        </p:nvSpPr>
        <p:spPr>
          <a:xfrm>
            <a:off x="7258050" y="4095750"/>
            <a:ext cx="3838575" cy="876300"/>
          </a:xfrm>
          <a:prstGeom prst="roundRect">
            <a:avLst>
              <a:gd name="adj" fmla="val 326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171450" tIns="0" rIns="171450" bIns="0" rtlCol="0" anchor="ctr"/>
          <a:lstStyle/>
          <a:p>
            <a:pPr algn="ctr"/>
            <a:endParaRPr/>
          </a:p>
        </p:txBody>
      </p:sp>
      <p:sp>
        <p:nvSpPr>
          <p:cNvPr id="6" name="Rounded Rectangle 5"/>
          <p:cNvSpPr/>
          <p:nvPr/>
        </p:nvSpPr>
        <p:spPr>
          <a:xfrm>
            <a:off x="7258050" y="5200650"/>
            <a:ext cx="3838575" cy="876300"/>
          </a:xfrm>
          <a:prstGeom prst="roundRect">
            <a:avLst>
              <a:gd name="adj" fmla="val 326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171450" tIns="0" rIns="171450" bIns="0" rtlCol="0" anchor="ctr"/>
          <a:lstStyle/>
          <a:p>
            <a:pPr algn="ctr"/>
            <a:endParaRPr/>
          </a:p>
        </p:txBody>
      </p:sp>
      <p:sp>
        <p:nvSpPr>
          <p:cNvPr id="7" name="TextBox 6"/>
          <p:cNvSpPr txBox="1"/>
          <p:nvPr/>
        </p:nvSpPr>
        <p:spPr>
          <a:xfrm>
            <a:off x="1095375" y="3388072"/>
            <a:ext cx="4414837" cy="708421"/>
          </a:xfrm>
          <a:prstGeom prst="rect">
            <a:avLst/>
          </a:prstGeom>
          <a:noFill/>
          <a:ln>
            <a:noFill/>
          </a:ln>
          <a:effectLst>
            <a:outerShdw>
              <a:srgbClr val="000000">
                <a:alpha val="0"/>
              </a:srgbClr>
            </a:outerShdw>
          </a:effectLst>
        </p:spPr>
        <p:txBody>
          <a:bodyPr wrap="square" lIns="0" tIns="0" rIns="0" bIns="0">
            <a:spAutoFit/>
          </a:bodyPr>
          <a:lstStyle/>
          <a:p>
            <a:pPr>
              <a:lnSpc>
                <a:spcPct val="136000"/>
              </a:lnSpc>
              <a:defRPr sz="1200" b="0" i="0">
                <a:solidFill>
                  <a:srgbClr val="EFF5F1"/>
                </a:solidFill>
                <a:latin typeface="Instrument Sans"/>
              </a:defRPr>
            </a:pPr>
            <a:r>
              <a:rPr sz="1200" b="0" i="0">
                <a:solidFill>
                  <a:srgbClr val="EFF5F1"/>
                </a:solidFill>
                <a:latin typeface="Instrument Sans"/>
              </a:rPr>
              <a:t>Современный набор инструментов на базе </a:t>
            </a:r>
            <a:r>
              <a:rPr sz="1200" b="1" i="0">
                <a:solidFill>
                  <a:srgbClr val="EFF5F1"/>
                </a:solidFill>
                <a:latin typeface="Instrument Sans"/>
              </a:rPr>
              <a:t>Python 3.11+</a:t>
            </a:r>
            <a:r>
              <a:rPr sz="1200" b="0" i="0">
                <a:solidFill>
                  <a:srgbClr val="EFF5F1"/>
                </a:solidFill>
                <a:latin typeface="Instrument Sans"/>
              </a:rPr>
              <a:t> для построения REST API, геометрических вычислений и визуализации маршрутов с автодокументацией и высокой производительностью.</a:t>
            </a:r>
          </a:p>
        </p:txBody>
      </p:sp>
      <p:sp>
        <p:nvSpPr>
          <p:cNvPr id="8" name="TextBox 7"/>
          <p:cNvSpPr txBox="1"/>
          <p:nvPr/>
        </p:nvSpPr>
        <p:spPr>
          <a:xfrm>
            <a:off x="1095375" y="2693044"/>
            <a:ext cx="3799582" cy="495300"/>
          </a:xfrm>
          <a:prstGeom prst="rect">
            <a:avLst/>
          </a:prstGeom>
          <a:noFill/>
          <a:ln>
            <a:noFill/>
          </a:ln>
          <a:effectLst>
            <a:outerShdw>
              <a:srgbClr val="000000">
                <a:alpha val="0"/>
              </a:srgbClr>
            </a:outerShdw>
          </a:effectLst>
        </p:spPr>
        <p:txBody>
          <a:bodyPr wrap="square" lIns="0" tIns="0" rIns="0" bIns="0">
            <a:spAutoFit/>
          </a:bodyPr>
          <a:lstStyle/>
          <a:p>
            <a:pPr>
              <a:lnSpc>
                <a:spcPct val="88000"/>
              </a:lnSpc>
              <a:defRPr sz="3202" b="1" i="0" spc="-120">
                <a:solidFill>
                  <a:srgbClr val="EFF5F1"/>
                </a:solidFill>
                <a:latin typeface="Instrument Sans"/>
              </a:defRPr>
            </a:pPr>
            <a:r>
              <a:rPr sz="3202" b="1" i="0">
                <a:solidFill>
                  <a:srgbClr val="EFF5F1"/>
                </a:solidFill>
                <a:latin typeface="Instrument Sans"/>
              </a:rPr>
              <a:t>Технологический стек</a:t>
            </a:r>
          </a:p>
        </p:txBody>
      </p:sp>
      <p:sp>
        <p:nvSpPr>
          <p:cNvPr id="9" name="TextBox 8"/>
          <p:cNvSpPr txBox="1"/>
          <p:nvPr/>
        </p:nvSpPr>
        <p:spPr>
          <a:xfrm>
            <a:off x="7429500" y="4478238"/>
            <a:ext cx="3144738" cy="355699"/>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147" b="0" i="0">
                <a:solidFill>
                  <a:srgbClr val="EFF5F1"/>
                </a:solidFill>
                <a:latin typeface="Instrument Sans"/>
              </a:defRPr>
            </a:pPr>
            <a:r>
              <a:rPr sz="1147" b="0" i="0">
                <a:solidFill>
                  <a:srgbClr val="EFF5F1"/>
                </a:solidFill>
                <a:latin typeface="Instrument Sans"/>
              </a:rPr>
              <a:t>Геометрические операции с полигонами и точками маршрута</a:t>
            </a:r>
          </a:p>
        </p:txBody>
      </p:sp>
      <p:sp>
        <p:nvSpPr>
          <p:cNvPr id="10" name="TextBox 9"/>
          <p:cNvSpPr txBox="1"/>
          <p:nvPr/>
        </p:nvSpPr>
        <p:spPr>
          <a:xfrm>
            <a:off x="7429500" y="5670500"/>
            <a:ext cx="3405931" cy="18097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147" b="0" i="0">
                <a:solidFill>
                  <a:srgbClr val="EFF5F1"/>
                </a:solidFill>
                <a:latin typeface="Instrument Sans"/>
              </a:defRPr>
            </a:pPr>
            <a:r>
              <a:rPr sz="1147" b="0" i="0">
                <a:solidFill>
                  <a:srgbClr val="EFF5F1"/>
                </a:solidFill>
                <a:latin typeface="Instrument Sans"/>
              </a:rPr>
              <a:t>Генерация PNG визуализации построенного маршрута</a:t>
            </a:r>
          </a:p>
        </p:txBody>
      </p:sp>
      <p:sp>
        <p:nvSpPr>
          <p:cNvPr id="11" name="TextBox 10"/>
          <p:cNvSpPr txBox="1"/>
          <p:nvPr/>
        </p:nvSpPr>
        <p:spPr>
          <a:xfrm>
            <a:off x="7429500" y="2355800"/>
            <a:ext cx="3393281" cy="18097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147" b="0" i="0">
                <a:solidFill>
                  <a:srgbClr val="EFF5F1"/>
                </a:solidFill>
                <a:latin typeface="Instrument Sans"/>
              </a:defRPr>
            </a:pPr>
            <a:r>
              <a:rPr sz="1147" b="0" i="0">
                <a:solidFill>
                  <a:srgbClr val="EFF5F1"/>
                </a:solidFill>
                <a:latin typeface="Instrument Sans"/>
              </a:rPr>
              <a:t>REST API с автоматической генерацией документации</a:t>
            </a:r>
          </a:p>
        </p:txBody>
      </p:sp>
      <p:sp>
        <p:nvSpPr>
          <p:cNvPr id="12" name="TextBox 11"/>
          <p:cNvSpPr txBox="1"/>
          <p:nvPr/>
        </p:nvSpPr>
        <p:spPr>
          <a:xfrm>
            <a:off x="7429500" y="3460700"/>
            <a:ext cx="3360390" cy="18097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147" b="0" i="0">
                <a:solidFill>
                  <a:srgbClr val="EFF5F1"/>
                </a:solidFill>
                <a:latin typeface="Instrument Sans"/>
              </a:defRPr>
            </a:pPr>
            <a:r>
              <a:rPr sz="1147" b="0" i="0">
                <a:solidFill>
                  <a:srgbClr val="EFF5F1"/>
                </a:solidFill>
                <a:latin typeface="Instrument Sans"/>
              </a:rPr>
              <a:t>Валидация и типизация входных параметров запросов</a:t>
            </a:r>
          </a:p>
        </p:txBody>
      </p:sp>
      <p:sp>
        <p:nvSpPr>
          <p:cNvPr id="13" name="TextBox 12"/>
          <p:cNvSpPr txBox="1"/>
          <p:nvPr/>
        </p:nvSpPr>
        <p:spPr>
          <a:xfrm>
            <a:off x="7429500" y="1250900"/>
            <a:ext cx="3179564" cy="18097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147" b="0" i="0">
                <a:solidFill>
                  <a:srgbClr val="EFF5F1"/>
                </a:solidFill>
                <a:latin typeface="Instrument Sans"/>
              </a:defRPr>
            </a:pPr>
            <a:r>
              <a:rPr sz="1147" b="0" i="0">
                <a:solidFill>
                  <a:srgbClr val="EFF5F1"/>
                </a:solidFill>
                <a:latin typeface="Instrument Sans"/>
              </a:rPr>
              <a:t>Python 3.11+ — основной язык реализации проекта</a:t>
            </a:r>
          </a:p>
        </p:txBody>
      </p:sp>
      <p:sp>
        <p:nvSpPr>
          <p:cNvPr id="14" name="Rounded Rectangle 13"/>
          <p:cNvSpPr/>
          <p:nvPr/>
        </p:nvSpPr>
        <p:spPr>
          <a:xfrm>
            <a:off x="6477000" y="904875"/>
            <a:ext cx="628650" cy="628650"/>
          </a:xfrm>
          <a:prstGeom prst="roundRect">
            <a:avLst>
              <a:gd name="adj" fmla="val 50000"/>
            </a:avLst>
          </a:prstGeom>
          <a:solidFill>
            <a:srgbClr val="EFF5F1"/>
          </a:solidFill>
          <a:ln w="9525">
            <a:solidFill>
              <a:srgbClr val="585858"/>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ounded Rectangle 14"/>
          <p:cNvSpPr/>
          <p:nvPr/>
        </p:nvSpPr>
        <p:spPr>
          <a:xfrm>
            <a:off x="6477000" y="2009775"/>
            <a:ext cx="628650" cy="628650"/>
          </a:xfrm>
          <a:prstGeom prst="roundRect">
            <a:avLst>
              <a:gd name="adj" fmla="val 50000"/>
            </a:avLst>
          </a:prstGeom>
          <a:solidFill>
            <a:srgbClr val="EFF5F1"/>
          </a:solidFill>
          <a:ln w="9525">
            <a:solidFill>
              <a:srgbClr val="585858"/>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ounded Rectangle 15"/>
          <p:cNvSpPr/>
          <p:nvPr/>
        </p:nvSpPr>
        <p:spPr>
          <a:xfrm>
            <a:off x="6477000" y="3114675"/>
            <a:ext cx="628650" cy="628650"/>
          </a:xfrm>
          <a:prstGeom prst="roundRect">
            <a:avLst>
              <a:gd name="adj" fmla="val 50000"/>
            </a:avLst>
          </a:prstGeom>
          <a:solidFill>
            <a:srgbClr val="EFF5F1"/>
          </a:solidFill>
          <a:ln w="9525">
            <a:solidFill>
              <a:srgbClr val="585858"/>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ounded Rectangle 16"/>
          <p:cNvSpPr/>
          <p:nvPr/>
        </p:nvSpPr>
        <p:spPr>
          <a:xfrm>
            <a:off x="6477000" y="4219575"/>
            <a:ext cx="628650" cy="628650"/>
          </a:xfrm>
          <a:prstGeom prst="roundRect">
            <a:avLst>
              <a:gd name="adj" fmla="val 50000"/>
            </a:avLst>
          </a:prstGeom>
          <a:solidFill>
            <a:srgbClr val="EFF5F1"/>
          </a:solidFill>
          <a:ln w="9525">
            <a:solidFill>
              <a:srgbClr val="585858"/>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Rounded Rectangle 17"/>
          <p:cNvSpPr/>
          <p:nvPr/>
        </p:nvSpPr>
        <p:spPr>
          <a:xfrm>
            <a:off x="6477000" y="5324475"/>
            <a:ext cx="628650" cy="628650"/>
          </a:xfrm>
          <a:prstGeom prst="roundRect">
            <a:avLst>
              <a:gd name="adj" fmla="val 50000"/>
            </a:avLst>
          </a:prstGeom>
          <a:solidFill>
            <a:srgbClr val="EFF5F1"/>
          </a:solidFill>
          <a:ln w="9525">
            <a:solidFill>
              <a:srgbClr val="585858"/>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7429500" y="5422850"/>
            <a:ext cx="840432"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Matplotlib</a:t>
            </a:r>
          </a:p>
        </p:txBody>
      </p:sp>
      <p:pic>
        <p:nvPicPr>
          <p:cNvPr id="20" name="Picture 19" descr="533d8052-8859-48cb-b3d2-c676c99f9e93.png"/>
          <p:cNvPicPr>
            <a:picLocks noChangeAspect="1"/>
          </p:cNvPicPr>
          <p:nvPr/>
        </p:nvPicPr>
        <p:blipFill>
          <a:blip r:embed="rId3"/>
          <a:stretch>
            <a:fillRect/>
          </a:stretch>
        </p:blipFill>
        <p:spPr>
          <a:xfrm>
            <a:off x="6600825" y="1028700"/>
            <a:ext cx="381000" cy="381000"/>
          </a:xfrm>
          <a:prstGeom prst="rect">
            <a:avLst/>
          </a:prstGeom>
        </p:spPr>
      </p:pic>
      <p:pic>
        <p:nvPicPr>
          <p:cNvPr id="21" name="Picture 20" descr="387b5064-b45a-42b4-a815-d390313c710d.png"/>
          <p:cNvPicPr>
            <a:picLocks noChangeAspect="1"/>
          </p:cNvPicPr>
          <p:nvPr/>
        </p:nvPicPr>
        <p:blipFill>
          <a:blip r:embed="rId4"/>
          <a:stretch>
            <a:fillRect/>
          </a:stretch>
        </p:blipFill>
        <p:spPr>
          <a:xfrm>
            <a:off x="6600825" y="2133600"/>
            <a:ext cx="381000" cy="381000"/>
          </a:xfrm>
          <a:prstGeom prst="rect">
            <a:avLst/>
          </a:prstGeom>
        </p:spPr>
      </p:pic>
      <p:pic>
        <p:nvPicPr>
          <p:cNvPr id="22" name="Picture 21" descr="1b3fd662-87a2-4abd-b6ae-cc6905410a15.png"/>
          <p:cNvPicPr>
            <a:picLocks noChangeAspect="1"/>
          </p:cNvPicPr>
          <p:nvPr/>
        </p:nvPicPr>
        <p:blipFill>
          <a:blip r:embed="rId5"/>
          <a:stretch>
            <a:fillRect/>
          </a:stretch>
        </p:blipFill>
        <p:spPr>
          <a:xfrm>
            <a:off x="6600825" y="3238500"/>
            <a:ext cx="381000" cy="381000"/>
          </a:xfrm>
          <a:prstGeom prst="rect">
            <a:avLst/>
          </a:prstGeom>
        </p:spPr>
      </p:pic>
      <p:pic>
        <p:nvPicPr>
          <p:cNvPr id="23" name="Picture 22" descr="e5438e7b-46f5-41f9-85ff-44d26d014454.png"/>
          <p:cNvPicPr>
            <a:picLocks noChangeAspect="1"/>
          </p:cNvPicPr>
          <p:nvPr/>
        </p:nvPicPr>
        <p:blipFill>
          <a:blip r:embed="rId6"/>
          <a:stretch>
            <a:fillRect/>
          </a:stretch>
        </p:blipFill>
        <p:spPr>
          <a:xfrm>
            <a:off x="6600825" y="4343400"/>
            <a:ext cx="381000" cy="381000"/>
          </a:xfrm>
          <a:prstGeom prst="rect">
            <a:avLst/>
          </a:prstGeom>
        </p:spPr>
      </p:pic>
      <p:pic>
        <p:nvPicPr>
          <p:cNvPr id="24" name="Picture 23" descr="00eb625f-97df-4954-bc4c-5881a23c74b6.png"/>
          <p:cNvPicPr>
            <a:picLocks noChangeAspect="1"/>
          </p:cNvPicPr>
          <p:nvPr/>
        </p:nvPicPr>
        <p:blipFill>
          <a:blip r:embed="rId7"/>
          <a:stretch>
            <a:fillRect/>
          </a:stretch>
        </p:blipFill>
        <p:spPr>
          <a:xfrm>
            <a:off x="6600825" y="5448300"/>
            <a:ext cx="381000" cy="381000"/>
          </a:xfrm>
          <a:prstGeom prst="rect">
            <a:avLst/>
          </a:prstGeom>
        </p:spPr>
      </p:pic>
      <p:sp>
        <p:nvSpPr>
          <p:cNvPr id="25" name="TextBox 24"/>
          <p:cNvSpPr txBox="1"/>
          <p:nvPr/>
        </p:nvSpPr>
        <p:spPr>
          <a:xfrm>
            <a:off x="7429500" y="3213050"/>
            <a:ext cx="726281"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Pydantic</a:t>
            </a:r>
          </a:p>
        </p:txBody>
      </p:sp>
      <p:sp>
        <p:nvSpPr>
          <p:cNvPr id="26" name="TextBox 25"/>
          <p:cNvSpPr txBox="1"/>
          <p:nvPr/>
        </p:nvSpPr>
        <p:spPr>
          <a:xfrm>
            <a:off x="7429500" y="4230588"/>
            <a:ext cx="661541"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Shapely</a:t>
            </a:r>
          </a:p>
        </p:txBody>
      </p:sp>
      <p:sp>
        <p:nvSpPr>
          <p:cNvPr id="27" name="TextBox 26"/>
          <p:cNvSpPr txBox="1"/>
          <p:nvPr/>
        </p:nvSpPr>
        <p:spPr>
          <a:xfrm>
            <a:off x="7429500" y="2108150"/>
            <a:ext cx="632519"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FastAPI</a:t>
            </a:r>
          </a:p>
        </p:txBody>
      </p:sp>
      <p:sp>
        <p:nvSpPr>
          <p:cNvPr id="28" name="TextBox 27"/>
          <p:cNvSpPr txBox="1"/>
          <p:nvPr/>
        </p:nvSpPr>
        <p:spPr>
          <a:xfrm>
            <a:off x="7429500" y="1003250"/>
            <a:ext cx="598884"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Python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TextBox 1"/>
          <p:cNvSpPr txBox="1"/>
          <p:nvPr/>
        </p:nvSpPr>
        <p:spPr>
          <a:xfrm>
            <a:off x="4253358" y="514350"/>
            <a:ext cx="3704332" cy="495300"/>
          </a:xfrm>
          <a:prstGeom prst="rect">
            <a:avLst/>
          </a:prstGeom>
          <a:noFill/>
          <a:ln>
            <a:noFill/>
          </a:ln>
          <a:effectLst>
            <a:outerShdw>
              <a:srgbClr val="000000">
                <a:alpha val="0"/>
              </a:srgbClr>
            </a:outerShdw>
          </a:effectLst>
        </p:spPr>
        <p:txBody>
          <a:bodyPr wrap="square" lIns="0" tIns="0" rIns="0" bIns="0">
            <a:spAutoFit/>
          </a:bodyPr>
          <a:lstStyle/>
          <a:p>
            <a:pPr algn="ctr">
              <a:lnSpc>
                <a:spcPct val="120000"/>
              </a:lnSpc>
              <a:defRPr sz="3202" b="1" i="0" spc="-150">
                <a:solidFill>
                  <a:srgbClr val="EFF5F1"/>
                </a:solidFill>
                <a:latin typeface="Instrument Sans"/>
              </a:defRPr>
            </a:pPr>
            <a:r>
              <a:rPr sz="3202" b="1" i="0">
                <a:solidFill>
                  <a:srgbClr val="EFF5F1"/>
                </a:solidFill>
                <a:latin typeface="Instrument Sans"/>
              </a:rPr>
              <a:t>Архитектура системы</a:t>
            </a:r>
          </a:p>
        </p:txBody>
      </p:sp>
      <p:sp>
        <p:nvSpPr>
          <p:cNvPr id="3" name="Rounded Rectangle 2"/>
          <p:cNvSpPr/>
          <p:nvPr/>
        </p:nvSpPr>
        <p:spPr>
          <a:xfrm>
            <a:off x="8382000" y="5083522"/>
            <a:ext cx="1524000" cy="1169193"/>
          </a:xfrm>
          <a:prstGeom prst="roundRect">
            <a:avLst>
              <a:gd name="adj" fmla="val 4887"/>
            </a:avLst>
          </a:prstGeom>
          <a:solidFill>
            <a:srgbClr val="424242"/>
          </a:solidFill>
          <a:ln>
            <a:noFill/>
          </a:ln>
          <a:effectLst>
            <a:outerShdw blurRad="19050" dist="9525" dir="5400000" rotWithShape="0">
              <a:srgbClr val="000000">
                <a:alpha val="5100"/>
              </a:srgbClr>
            </a:outerShdw>
          </a:effectLst>
        </p:spPr>
        <p:style>
          <a:lnRef idx="1">
            <a:schemeClr val="accent1"/>
          </a:lnRef>
          <a:fillRef idx="3">
            <a:schemeClr val="accent1"/>
          </a:fillRef>
          <a:effectRef idx="2">
            <a:schemeClr val="accent1"/>
          </a:effectRef>
          <a:fontRef idx="minor">
            <a:schemeClr val="lt1"/>
          </a:fontRef>
        </p:style>
        <p:txBody>
          <a:bodyPr wrap="square" lIns="152400" tIns="152400" rIns="152400" bIns="152400" rtlCol="0" anchor="ctr"/>
          <a:lstStyle/>
          <a:p>
            <a:pPr algn="ctr"/>
            <a:endParaRPr/>
          </a:p>
        </p:txBody>
      </p:sp>
      <p:sp>
        <p:nvSpPr>
          <p:cNvPr id="4" name="Rounded Rectangle 3"/>
          <p:cNvSpPr/>
          <p:nvPr/>
        </p:nvSpPr>
        <p:spPr>
          <a:xfrm>
            <a:off x="762000" y="2374999"/>
            <a:ext cx="1524000" cy="1095375"/>
          </a:xfrm>
          <a:prstGeom prst="roundRect">
            <a:avLst>
              <a:gd name="adj" fmla="val 5217"/>
            </a:avLst>
          </a:prstGeom>
          <a:solidFill>
            <a:srgbClr val="424242"/>
          </a:solidFill>
          <a:ln>
            <a:noFill/>
          </a:ln>
          <a:effectLst>
            <a:outerShdw blurRad="19050" dist="9525" dir="5400000" rotWithShape="0">
              <a:srgbClr val="000000">
                <a:alpha val="5100"/>
              </a:srgbClr>
            </a:outerShdw>
          </a:effectLst>
        </p:spPr>
        <p:style>
          <a:lnRef idx="1">
            <a:schemeClr val="accent1"/>
          </a:lnRef>
          <a:fillRef idx="3">
            <a:schemeClr val="accent1"/>
          </a:fillRef>
          <a:effectRef idx="2">
            <a:schemeClr val="accent1"/>
          </a:effectRef>
          <a:fontRef idx="minor">
            <a:schemeClr val="lt1"/>
          </a:fontRef>
        </p:style>
        <p:txBody>
          <a:bodyPr wrap="square" lIns="152400" tIns="152400" rIns="152400" bIns="152400" rtlCol="0" anchor="ctr"/>
          <a:lstStyle/>
          <a:p>
            <a:pPr algn="ctr"/>
            <a:endParaRPr/>
          </a:p>
        </p:txBody>
      </p:sp>
      <p:sp>
        <p:nvSpPr>
          <p:cNvPr id="5" name="Rounded Rectangle 4"/>
          <p:cNvSpPr/>
          <p:nvPr/>
        </p:nvSpPr>
        <p:spPr>
          <a:xfrm>
            <a:off x="2286000" y="5083522"/>
            <a:ext cx="1524000" cy="1095375"/>
          </a:xfrm>
          <a:prstGeom prst="roundRect">
            <a:avLst>
              <a:gd name="adj" fmla="val 5217"/>
            </a:avLst>
          </a:prstGeom>
          <a:solidFill>
            <a:srgbClr val="424242"/>
          </a:solidFill>
          <a:ln>
            <a:noFill/>
          </a:ln>
          <a:effectLst>
            <a:outerShdw blurRad="19050" dist="9525" dir="5400000" rotWithShape="0">
              <a:srgbClr val="000000">
                <a:alpha val="5100"/>
              </a:srgbClr>
            </a:outerShdw>
          </a:effectLst>
        </p:spPr>
        <p:style>
          <a:lnRef idx="1">
            <a:schemeClr val="accent1"/>
          </a:lnRef>
          <a:fillRef idx="3">
            <a:schemeClr val="accent1"/>
          </a:fillRef>
          <a:effectRef idx="2">
            <a:schemeClr val="accent1"/>
          </a:effectRef>
          <a:fontRef idx="minor">
            <a:schemeClr val="lt1"/>
          </a:fontRef>
        </p:style>
        <p:txBody>
          <a:bodyPr wrap="square" lIns="152400" tIns="152400" rIns="152400" bIns="152400" rtlCol="0" anchor="ctr"/>
          <a:lstStyle/>
          <a:p>
            <a:pPr algn="ctr"/>
            <a:endParaRPr/>
          </a:p>
        </p:txBody>
      </p:sp>
      <p:sp>
        <p:nvSpPr>
          <p:cNvPr id="6" name="Rounded Rectangle 5"/>
          <p:cNvSpPr/>
          <p:nvPr/>
        </p:nvSpPr>
        <p:spPr>
          <a:xfrm>
            <a:off x="3810000" y="2374999"/>
            <a:ext cx="1524000" cy="1095375"/>
          </a:xfrm>
          <a:prstGeom prst="roundRect">
            <a:avLst>
              <a:gd name="adj" fmla="val 5217"/>
            </a:avLst>
          </a:prstGeom>
          <a:solidFill>
            <a:srgbClr val="424242"/>
          </a:solidFill>
          <a:ln>
            <a:noFill/>
          </a:ln>
          <a:effectLst>
            <a:outerShdw blurRad="19050" dist="9525" dir="5400000" rotWithShape="0">
              <a:srgbClr val="000000">
                <a:alpha val="5100"/>
              </a:srgbClr>
            </a:outerShdw>
          </a:effectLst>
        </p:spPr>
        <p:style>
          <a:lnRef idx="1">
            <a:schemeClr val="accent1"/>
          </a:lnRef>
          <a:fillRef idx="3">
            <a:schemeClr val="accent1"/>
          </a:fillRef>
          <a:effectRef idx="2">
            <a:schemeClr val="accent1"/>
          </a:effectRef>
          <a:fontRef idx="minor">
            <a:schemeClr val="lt1"/>
          </a:fontRef>
        </p:style>
        <p:txBody>
          <a:bodyPr wrap="square" lIns="152400" tIns="152400" rIns="152400" bIns="152400" rtlCol="0" anchor="ctr"/>
          <a:lstStyle/>
          <a:p>
            <a:pPr algn="ctr"/>
            <a:endParaRPr/>
          </a:p>
        </p:txBody>
      </p:sp>
      <p:sp>
        <p:nvSpPr>
          <p:cNvPr id="7" name="Rounded Rectangle 6"/>
          <p:cNvSpPr/>
          <p:nvPr/>
        </p:nvSpPr>
        <p:spPr>
          <a:xfrm>
            <a:off x="5334000" y="5083522"/>
            <a:ext cx="1524000" cy="1095375"/>
          </a:xfrm>
          <a:prstGeom prst="roundRect">
            <a:avLst>
              <a:gd name="adj" fmla="val 5217"/>
            </a:avLst>
          </a:prstGeom>
          <a:solidFill>
            <a:srgbClr val="424242"/>
          </a:solidFill>
          <a:ln>
            <a:noFill/>
          </a:ln>
          <a:effectLst>
            <a:outerShdw blurRad="19050" dist="9525" dir="5400000" rotWithShape="0">
              <a:srgbClr val="000000">
                <a:alpha val="5100"/>
              </a:srgbClr>
            </a:outerShdw>
          </a:effectLst>
        </p:spPr>
        <p:style>
          <a:lnRef idx="1">
            <a:schemeClr val="accent1"/>
          </a:lnRef>
          <a:fillRef idx="3">
            <a:schemeClr val="accent1"/>
          </a:fillRef>
          <a:effectRef idx="2">
            <a:schemeClr val="accent1"/>
          </a:effectRef>
          <a:fontRef idx="minor">
            <a:schemeClr val="lt1"/>
          </a:fontRef>
        </p:style>
        <p:txBody>
          <a:bodyPr wrap="square" lIns="152400" tIns="152400" rIns="152400" bIns="152400" rtlCol="0" anchor="ctr"/>
          <a:lstStyle/>
          <a:p>
            <a:pPr algn="ctr"/>
            <a:endParaRPr/>
          </a:p>
        </p:txBody>
      </p:sp>
      <p:sp>
        <p:nvSpPr>
          <p:cNvPr id="8" name="Rounded Rectangle 7"/>
          <p:cNvSpPr/>
          <p:nvPr/>
        </p:nvSpPr>
        <p:spPr>
          <a:xfrm>
            <a:off x="6858000" y="2374999"/>
            <a:ext cx="1524000" cy="1095375"/>
          </a:xfrm>
          <a:prstGeom prst="roundRect">
            <a:avLst>
              <a:gd name="adj" fmla="val 5217"/>
            </a:avLst>
          </a:prstGeom>
          <a:solidFill>
            <a:srgbClr val="424242"/>
          </a:solidFill>
          <a:ln>
            <a:noFill/>
          </a:ln>
          <a:effectLst>
            <a:outerShdw blurRad="19050" dist="9525" dir="5400000" rotWithShape="0">
              <a:srgbClr val="000000">
                <a:alpha val="5100"/>
              </a:srgbClr>
            </a:outerShdw>
          </a:effectLst>
        </p:spPr>
        <p:style>
          <a:lnRef idx="1">
            <a:schemeClr val="accent1"/>
          </a:lnRef>
          <a:fillRef idx="3">
            <a:schemeClr val="accent1"/>
          </a:fillRef>
          <a:effectRef idx="2">
            <a:schemeClr val="accent1"/>
          </a:effectRef>
          <a:fontRef idx="minor">
            <a:schemeClr val="lt1"/>
          </a:fontRef>
        </p:style>
        <p:txBody>
          <a:bodyPr wrap="square" lIns="152400" tIns="152400" rIns="152400" bIns="152400" rtlCol="0" anchor="ctr"/>
          <a:lstStyle/>
          <a:p>
            <a:pPr algn="ctr"/>
            <a:endParaRPr/>
          </a:p>
        </p:txBody>
      </p:sp>
      <p:sp>
        <p:nvSpPr>
          <p:cNvPr id="9" name="Rounded Rectangle 8"/>
          <p:cNvSpPr/>
          <p:nvPr/>
        </p:nvSpPr>
        <p:spPr>
          <a:xfrm>
            <a:off x="9906000" y="2374999"/>
            <a:ext cx="1524000" cy="1095375"/>
          </a:xfrm>
          <a:prstGeom prst="roundRect">
            <a:avLst>
              <a:gd name="adj" fmla="val 5217"/>
            </a:avLst>
          </a:prstGeom>
          <a:solidFill>
            <a:srgbClr val="424242"/>
          </a:solidFill>
          <a:ln>
            <a:noFill/>
          </a:ln>
          <a:effectLst>
            <a:outerShdw blurRad="19050" dist="9525" dir="5400000" rotWithShape="0">
              <a:srgbClr val="000000">
                <a:alpha val="5100"/>
              </a:srgbClr>
            </a:outerShdw>
          </a:effectLst>
        </p:spPr>
        <p:style>
          <a:lnRef idx="1">
            <a:schemeClr val="accent1"/>
          </a:lnRef>
          <a:fillRef idx="3">
            <a:schemeClr val="accent1"/>
          </a:fillRef>
          <a:effectRef idx="2">
            <a:schemeClr val="accent1"/>
          </a:effectRef>
          <a:fontRef idx="minor">
            <a:schemeClr val="lt1"/>
          </a:fontRef>
        </p:style>
        <p:txBody>
          <a:bodyPr wrap="square" lIns="152400" tIns="152400" rIns="152400" bIns="152400" rtlCol="0" anchor="ctr"/>
          <a:lstStyle/>
          <a:p>
            <a:pPr algn="ctr"/>
            <a:endParaRPr/>
          </a:p>
        </p:txBody>
      </p:sp>
      <p:sp>
        <p:nvSpPr>
          <p:cNvPr id="10" name="TextBox 9"/>
          <p:cNvSpPr txBox="1"/>
          <p:nvPr/>
        </p:nvSpPr>
        <p:spPr>
          <a:xfrm>
            <a:off x="8626226" y="5578226"/>
            <a:ext cx="1054596" cy="505866"/>
          </a:xfrm>
          <a:prstGeom prst="rect">
            <a:avLst/>
          </a:prstGeom>
          <a:noFill/>
          <a:ln>
            <a:noFill/>
          </a:ln>
          <a:effectLst>
            <a:outerShdw>
              <a:srgbClr val="000000">
                <a:alpha val="0"/>
              </a:srgbClr>
            </a:outerShdw>
          </a:effectLst>
        </p:spPr>
        <p:txBody>
          <a:bodyPr wrap="square" lIns="0" tIns="0" rIns="0" bIns="0">
            <a:spAutoFit/>
          </a:bodyPr>
          <a:lstStyle/>
          <a:p>
            <a:pPr algn="ctr">
              <a:lnSpc>
                <a:spcPct val="112000"/>
              </a:lnSpc>
              <a:defRPr sz="735" b="0" i="0">
                <a:solidFill>
                  <a:srgbClr val="EFF5F1"/>
                </a:solidFill>
                <a:latin typeface="Instrument Sans"/>
              </a:defRPr>
            </a:pPr>
            <a:r>
              <a:rPr sz="735" b="0" i="0">
                <a:solidFill>
                  <a:srgbClr val="EFF5F1"/>
                </a:solidFill>
                <a:latin typeface="Instrument Sans"/>
              </a:rPr>
              <a:t>Оптимизация маршрута алгоритмом </a:t>
            </a:r>
            <a:r>
              <a:rPr sz="735" b="1" i="0">
                <a:solidFill>
                  <a:srgbClr val="EFF5F1"/>
                </a:solidFill>
                <a:latin typeface="Instrument Sans"/>
              </a:rPr>
              <a:t>2-opt</a:t>
            </a:r>
            <a:r>
              <a:rPr sz="735" b="0" i="0">
                <a:solidFill>
                  <a:srgbClr val="EFF5F1"/>
                </a:solidFill>
                <a:latin typeface="Instrument Sans"/>
              </a:rPr>
              <a:t>, расчёт длины, времени и заряда батареи</a:t>
            </a:r>
          </a:p>
        </p:txBody>
      </p:sp>
      <p:sp>
        <p:nvSpPr>
          <p:cNvPr id="11" name="TextBox 10"/>
          <p:cNvSpPr txBox="1"/>
          <p:nvPr/>
        </p:nvSpPr>
        <p:spPr>
          <a:xfrm>
            <a:off x="5487441" y="5606504"/>
            <a:ext cx="1236166" cy="375344"/>
          </a:xfrm>
          <a:prstGeom prst="rect">
            <a:avLst/>
          </a:prstGeom>
          <a:noFill/>
          <a:ln>
            <a:noFill/>
          </a:ln>
          <a:effectLst>
            <a:outerShdw>
              <a:srgbClr val="000000">
                <a:alpha val="0"/>
              </a:srgbClr>
            </a:outerShdw>
          </a:effectLst>
        </p:spPr>
        <p:txBody>
          <a:bodyPr wrap="square" lIns="0" tIns="0" rIns="0" bIns="0">
            <a:spAutoFit/>
          </a:bodyPr>
          <a:lstStyle/>
          <a:p>
            <a:pPr algn="ctr">
              <a:lnSpc>
                <a:spcPct val="112000"/>
              </a:lnSpc>
              <a:defRPr sz="735" b="0" i="0">
                <a:solidFill>
                  <a:srgbClr val="EFF5F1"/>
                </a:solidFill>
                <a:latin typeface="Instrument Sans"/>
              </a:defRPr>
            </a:pPr>
            <a:r>
              <a:rPr sz="735" b="0" i="0">
                <a:solidFill>
                  <a:srgbClr val="EFF5F1"/>
                </a:solidFill>
                <a:latin typeface="Instrument Sans"/>
              </a:rPr>
              <a:t>Расчёт шага сетки по высоте и перекрытию с использованием </a:t>
            </a:r>
            <a:r>
              <a:rPr sz="735" b="1" i="0">
                <a:solidFill>
                  <a:srgbClr val="EFF5F1"/>
                </a:solidFill>
                <a:latin typeface="Instrument Sans"/>
              </a:rPr>
              <a:t>NumPy</a:t>
            </a:r>
          </a:p>
        </p:txBody>
      </p:sp>
      <p:sp>
        <p:nvSpPr>
          <p:cNvPr id="12" name="TextBox 11"/>
          <p:cNvSpPr txBox="1"/>
          <p:nvPr/>
        </p:nvSpPr>
        <p:spPr>
          <a:xfrm>
            <a:off x="941933" y="2897981"/>
            <a:ext cx="1183183" cy="375344"/>
          </a:xfrm>
          <a:prstGeom prst="rect">
            <a:avLst/>
          </a:prstGeom>
          <a:noFill/>
          <a:ln>
            <a:noFill/>
          </a:ln>
          <a:effectLst>
            <a:outerShdw>
              <a:srgbClr val="000000">
                <a:alpha val="0"/>
              </a:srgbClr>
            </a:outerShdw>
          </a:effectLst>
        </p:spPr>
        <p:txBody>
          <a:bodyPr wrap="square" lIns="0" tIns="0" rIns="0" bIns="0">
            <a:spAutoFit/>
          </a:bodyPr>
          <a:lstStyle/>
          <a:p>
            <a:pPr algn="ctr">
              <a:lnSpc>
                <a:spcPct val="112000"/>
              </a:lnSpc>
              <a:defRPr sz="735" b="0" i="0">
                <a:solidFill>
                  <a:srgbClr val="EFF5F1"/>
                </a:solidFill>
                <a:latin typeface="Instrument Sans"/>
              </a:defRPr>
            </a:pPr>
            <a:r>
              <a:rPr sz="735" b="0" i="0">
                <a:solidFill>
                  <a:srgbClr val="EFF5F1"/>
                </a:solidFill>
                <a:latin typeface="Instrument Sans"/>
              </a:rPr>
              <a:t>Пользователь отправляет </a:t>
            </a:r>
            <a:r>
              <a:rPr sz="735" b="1" i="0">
                <a:solidFill>
                  <a:srgbClr val="EFF5F1"/>
                </a:solidFill>
                <a:latin typeface="Instrument Sans"/>
              </a:rPr>
              <a:t>POST-запрос</a:t>
            </a:r>
            <a:r>
              <a:rPr sz="735" b="0" i="0">
                <a:solidFill>
                  <a:srgbClr val="EFF5F1"/>
                </a:solidFill>
                <a:latin typeface="Instrument Sans"/>
              </a:rPr>
              <a:t> с параметрами карьера через API</a:t>
            </a:r>
          </a:p>
        </p:txBody>
      </p:sp>
      <p:sp>
        <p:nvSpPr>
          <p:cNvPr id="13" name="TextBox 12"/>
          <p:cNvSpPr txBox="1"/>
          <p:nvPr/>
        </p:nvSpPr>
        <p:spPr>
          <a:xfrm>
            <a:off x="10106322" y="2897981"/>
            <a:ext cx="1142255" cy="375344"/>
          </a:xfrm>
          <a:prstGeom prst="rect">
            <a:avLst/>
          </a:prstGeom>
          <a:noFill/>
          <a:ln>
            <a:noFill/>
          </a:ln>
          <a:effectLst>
            <a:outerShdw>
              <a:srgbClr val="000000">
                <a:alpha val="0"/>
              </a:srgbClr>
            </a:outerShdw>
          </a:effectLst>
        </p:spPr>
        <p:txBody>
          <a:bodyPr wrap="square" lIns="0" tIns="0" rIns="0" bIns="0">
            <a:spAutoFit/>
          </a:bodyPr>
          <a:lstStyle/>
          <a:p>
            <a:pPr algn="ctr">
              <a:lnSpc>
                <a:spcPct val="112000"/>
              </a:lnSpc>
              <a:defRPr sz="735" b="0" i="0">
                <a:solidFill>
                  <a:srgbClr val="EFF5F1"/>
                </a:solidFill>
                <a:latin typeface="Instrument Sans"/>
              </a:defRPr>
            </a:pPr>
            <a:r>
              <a:rPr sz="735" b="0" i="0">
                <a:solidFill>
                  <a:srgbClr val="EFF5F1"/>
                </a:solidFill>
                <a:latin typeface="Instrument Sans"/>
              </a:rPr>
              <a:t>Сохранение </a:t>
            </a:r>
            <a:r>
              <a:rPr sz="735" b="1" i="0">
                <a:solidFill>
                  <a:srgbClr val="EFF5F1"/>
                </a:solidFill>
                <a:latin typeface="Instrument Sans"/>
              </a:rPr>
              <a:t>mission.json</a:t>
            </a:r>
            <a:r>
              <a:rPr sz="735" b="0" i="0">
                <a:solidFill>
                  <a:srgbClr val="EFF5F1"/>
                </a:solidFill>
                <a:latin typeface="Instrument Sans"/>
              </a:rPr>
              <a:t> и </a:t>
            </a:r>
            <a:r>
              <a:rPr sz="735" b="0" i="1">
                <a:solidFill>
                  <a:srgbClr val="EFF5F1"/>
                </a:solidFill>
                <a:latin typeface="Instrument Sans"/>
              </a:rPr>
              <a:t>route.png</a:t>
            </a:r>
            <a:r>
              <a:rPr sz="735" b="0" i="0">
                <a:solidFill>
                  <a:srgbClr val="EFF5F1"/>
                </a:solidFill>
                <a:latin typeface="Instrument Sans"/>
              </a:rPr>
              <a:t>, отправка JSON-ответа пользователю</a:t>
            </a:r>
          </a:p>
        </p:txBody>
      </p:sp>
      <p:sp>
        <p:nvSpPr>
          <p:cNvPr id="14" name="TextBox 13"/>
          <p:cNvSpPr txBox="1"/>
          <p:nvPr/>
        </p:nvSpPr>
        <p:spPr>
          <a:xfrm>
            <a:off x="2492275" y="5606504"/>
            <a:ext cx="1130498" cy="375344"/>
          </a:xfrm>
          <a:prstGeom prst="rect">
            <a:avLst/>
          </a:prstGeom>
          <a:noFill/>
          <a:ln>
            <a:noFill/>
          </a:ln>
          <a:effectLst>
            <a:outerShdw>
              <a:srgbClr val="000000">
                <a:alpha val="0"/>
              </a:srgbClr>
            </a:outerShdw>
          </a:effectLst>
        </p:spPr>
        <p:txBody>
          <a:bodyPr wrap="square" lIns="0" tIns="0" rIns="0" bIns="0">
            <a:spAutoFit/>
          </a:bodyPr>
          <a:lstStyle/>
          <a:p>
            <a:pPr algn="ctr">
              <a:lnSpc>
                <a:spcPct val="112000"/>
              </a:lnSpc>
              <a:defRPr sz="735" b="0" i="0">
                <a:solidFill>
                  <a:srgbClr val="EFF5F1"/>
                </a:solidFill>
                <a:latin typeface="Instrument Sans"/>
              </a:defRPr>
            </a:pPr>
            <a:r>
              <a:rPr sz="735" b="0" i="0">
                <a:solidFill>
                  <a:srgbClr val="EFF5F1"/>
                </a:solidFill>
                <a:latin typeface="Instrument Sans"/>
              </a:rPr>
              <a:t>Проверка входных данных с помощью </a:t>
            </a:r>
            <a:r>
              <a:rPr sz="735" b="1" i="0">
                <a:solidFill>
                  <a:srgbClr val="EFF5F1"/>
                </a:solidFill>
                <a:latin typeface="Instrument Sans"/>
              </a:rPr>
              <a:t>Pydantic</a:t>
            </a:r>
            <a:r>
              <a:rPr sz="735" b="0" i="0">
                <a:solidFill>
                  <a:srgbClr val="EFF5F1"/>
                </a:solidFill>
                <a:latin typeface="Instrument Sans"/>
              </a:rPr>
              <a:t> для обеспечения корректности</a:t>
            </a:r>
          </a:p>
        </p:txBody>
      </p:sp>
      <p:sp>
        <p:nvSpPr>
          <p:cNvPr id="15" name="TextBox 14"/>
          <p:cNvSpPr txBox="1"/>
          <p:nvPr/>
        </p:nvSpPr>
        <p:spPr>
          <a:xfrm>
            <a:off x="7067252" y="2897981"/>
            <a:ext cx="1124396" cy="375344"/>
          </a:xfrm>
          <a:prstGeom prst="rect">
            <a:avLst/>
          </a:prstGeom>
          <a:noFill/>
          <a:ln>
            <a:noFill/>
          </a:ln>
          <a:effectLst>
            <a:outerShdw>
              <a:srgbClr val="000000">
                <a:alpha val="0"/>
              </a:srgbClr>
            </a:outerShdw>
          </a:effectLst>
        </p:spPr>
        <p:txBody>
          <a:bodyPr wrap="square" lIns="0" tIns="0" rIns="0" bIns="0">
            <a:spAutoFit/>
          </a:bodyPr>
          <a:lstStyle/>
          <a:p>
            <a:pPr algn="ctr">
              <a:lnSpc>
                <a:spcPct val="112000"/>
              </a:lnSpc>
              <a:defRPr sz="735" b="0" i="0">
                <a:solidFill>
                  <a:srgbClr val="EFF5F1"/>
                </a:solidFill>
                <a:latin typeface="Instrument Sans"/>
              </a:defRPr>
            </a:pPr>
            <a:r>
              <a:rPr sz="735" b="0" i="0">
                <a:solidFill>
                  <a:srgbClr val="EFF5F1"/>
                </a:solidFill>
                <a:latin typeface="Instrument Sans"/>
              </a:rPr>
              <a:t>Генерация точек съёмки и построение маршрута через </a:t>
            </a:r>
            <a:r>
              <a:rPr sz="735" b="0" i="1">
                <a:solidFill>
                  <a:srgbClr val="EFF5F1"/>
                </a:solidFill>
                <a:latin typeface="Instrument Sans"/>
              </a:rPr>
              <a:t>Nearest Neighbor</a:t>
            </a:r>
          </a:p>
        </p:txBody>
      </p:sp>
      <p:sp>
        <p:nvSpPr>
          <p:cNvPr id="16" name="Rectangle 15"/>
          <p:cNvSpPr/>
          <p:nvPr/>
        </p:nvSpPr>
        <p:spPr>
          <a:xfrm>
            <a:off x="0" y="4254549"/>
            <a:ext cx="12192000" cy="25598"/>
          </a:xfrm>
          <a:prstGeom prst="rect">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3979664" y="2963316"/>
            <a:ext cx="1203573" cy="244822"/>
          </a:xfrm>
          <a:prstGeom prst="rect">
            <a:avLst/>
          </a:prstGeom>
          <a:noFill/>
          <a:ln>
            <a:noFill/>
          </a:ln>
          <a:effectLst>
            <a:outerShdw>
              <a:srgbClr val="000000">
                <a:alpha val="0"/>
              </a:srgbClr>
            </a:outerShdw>
          </a:effectLst>
        </p:spPr>
        <p:txBody>
          <a:bodyPr wrap="square" lIns="0" tIns="0" rIns="0" bIns="0">
            <a:spAutoFit/>
          </a:bodyPr>
          <a:lstStyle/>
          <a:p>
            <a:pPr algn="ctr">
              <a:lnSpc>
                <a:spcPct val="112000"/>
              </a:lnSpc>
              <a:defRPr sz="735" b="0" i="0">
                <a:solidFill>
                  <a:srgbClr val="EFF5F1"/>
                </a:solidFill>
                <a:latin typeface="Instrument Sans"/>
              </a:defRPr>
            </a:pPr>
            <a:r>
              <a:rPr sz="735" b="0" i="0">
                <a:solidFill>
                  <a:srgbClr val="EFF5F1"/>
                </a:solidFill>
                <a:latin typeface="Instrument Sans"/>
              </a:rPr>
              <a:t>Построение полигона карьера через библиотеку </a:t>
            </a:r>
            <a:r>
              <a:rPr sz="735" b="1" i="0">
                <a:solidFill>
                  <a:srgbClr val="EFF5F1"/>
                </a:solidFill>
                <a:latin typeface="Instrument Sans"/>
              </a:rPr>
              <a:t>Shapely</a:t>
            </a:r>
          </a:p>
        </p:txBody>
      </p:sp>
      <p:sp>
        <p:nvSpPr>
          <p:cNvPr id="18" name="TextBox 17"/>
          <p:cNvSpPr txBox="1"/>
          <p:nvPr/>
        </p:nvSpPr>
        <p:spPr>
          <a:xfrm>
            <a:off x="2539454" y="5283249"/>
            <a:ext cx="1035992" cy="247650"/>
          </a:xfrm>
          <a:prstGeom prst="rect">
            <a:avLst/>
          </a:prstGeom>
          <a:noFill/>
          <a:ln>
            <a:noFill/>
          </a:ln>
          <a:effectLst>
            <a:outerShdw>
              <a:srgbClr val="000000">
                <a:alpha val="0"/>
              </a:srgbClr>
            </a:outerShdw>
          </a:effectLst>
        </p:spPr>
        <p:txBody>
          <a:bodyPr wrap="square" lIns="0" tIns="0" rIns="0" bIns="0">
            <a:spAutoFit/>
          </a:bodyPr>
          <a:lstStyle/>
          <a:p>
            <a:pPr algn="ctr">
              <a:lnSpc>
                <a:spcPct val="120000"/>
              </a:lnSpc>
              <a:defRPr sz="1597" b="1" i="0">
                <a:solidFill>
                  <a:srgbClr val="EFF5F1"/>
                </a:solidFill>
                <a:latin typeface="Instrument Sans"/>
              </a:defRPr>
            </a:pPr>
            <a:r>
              <a:rPr sz="1597" b="1" i="0">
                <a:solidFill>
                  <a:srgbClr val="EFF5F1"/>
                </a:solidFill>
                <a:latin typeface="Instrument Sans"/>
              </a:rPr>
              <a:t>Валидация</a:t>
            </a:r>
          </a:p>
        </p:txBody>
      </p:sp>
      <p:sp>
        <p:nvSpPr>
          <p:cNvPr id="19" name="TextBox 18"/>
          <p:cNvSpPr txBox="1"/>
          <p:nvPr/>
        </p:nvSpPr>
        <p:spPr>
          <a:xfrm>
            <a:off x="7175748" y="2574726"/>
            <a:ext cx="907405" cy="247650"/>
          </a:xfrm>
          <a:prstGeom prst="rect">
            <a:avLst/>
          </a:prstGeom>
          <a:noFill/>
          <a:ln>
            <a:noFill/>
          </a:ln>
          <a:effectLst>
            <a:outerShdw>
              <a:srgbClr val="000000">
                <a:alpha val="0"/>
              </a:srgbClr>
            </a:outerShdw>
          </a:effectLst>
        </p:spPr>
        <p:txBody>
          <a:bodyPr wrap="square" lIns="0" tIns="0" rIns="0" bIns="0">
            <a:spAutoFit/>
          </a:bodyPr>
          <a:lstStyle/>
          <a:p>
            <a:pPr algn="ctr">
              <a:lnSpc>
                <a:spcPct val="120000"/>
              </a:lnSpc>
              <a:defRPr sz="1597" b="1" i="0">
                <a:solidFill>
                  <a:srgbClr val="EFF5F1"/>
                </a:solidFill>
                <a:latin typeface="Instrument Sans"/>
              </a:defRPr>
            </a:pPr>
            <a:r>
              <a:rPr sz="1597" b="1" i="0">
                <a:solidFill>
                  <a:srgbClr val="EFF5F1"/>
                </a:solidFill>
                <a:latin typeface="Instrument Sans"/>
              </a:rPr>
              <a:t>Маршрут</a:t>
            </a:r>
          </a:p>
        </p:txBody>
      </p:sp>
      <p:sp>
        <p:nvSpPr>
          <p:cNvPr id="20" name="TextBox 19"/>
          <p:cNvSpPr txBox="1"/>
          <p:nvPr/>
        </p:nvSpPr>
        <p:spPr>
          <a:xfrm>
            <a:off x="4175521" y="2640062"/>
            <a:ext cx="811857" cy="247650"/>
          </a:xfrm>
          <a:prstGeom prst="rect">
            <a:avLst/>
          </a:prstGeom>
          <a:noFill/>
          <a:ln>
            <a:noFill/>
          </a:ln>
          <a:effectLst>
            <a:outerShdw>
              <a:srgbClr val="000000">
                <a:alpha val="0"/>
              </a:srgbClr>
            </a:outerShdw>
          </a:effectLst>
        </p:spPr>
        <p:txBody>
          <a:bodyPr wrap="square" lIns="0" tIns="0" rIns="0" bIns="0">
            <a:spAutoFit/>
          </a:bodyPr>
          <a:lstStyle/>
          <a:p>
            <a:pPr algn="ctr">
              <a:lnSpc>
                <a:spcPct val="120000"/>
              </a:lnSpc>
              <a:defRPr sz="1597" b="1" i="0">
                <a:solidFill>
                  <a:srgbClr val="EFF5F1"/>
                </a:solidFill>
                <a:latin typeface="Instrument Sans"/>
              </a:defRPr>
            </a:pPr>
            <a:r>
              <a:rPr sz="1597" b="1" i="0">
                <a:solidFill>
                  <a:srgbClr val="EFF5F1"/>
                </a:solidFill>
                <a:latin typeface="Instrument Sans"/>
              </a:rPr>
              <a:t>Полигон</a:t>
            </a:r>
          </a:p>
        </p:txBody>
      </p:sp>
      <p:sp>
        <p:nvSpPr>
          <p:cNvPr id="21" name="TextBox 20"/>
          <p:cNvSpPr txBox="1"/>
          <p:nvPr/>
        </p:nvSpPr>
        <p:spPr>
          <a:xfrm>
            <a:off x="1210419" y="2574726"/>
            <a:ext cx="646211" cy="247650"/>
          </a:xfrm>
          <a:prstGeom prst="rect">
            <a:avLst/>
          </a:prstGeom>
          <a:noFill/>
          <a:ln>
            <a:noFill/>
          </a:ln>
          <a:effectLst>
            <a:outerShdw>
              <a:srgbClr val="000000">
                <a:alpha val="0"/>
              </a:srgbClr>
            </a:outerShdw>
          </a:effectLst>
        </p:spPr>
        <p:txBody>
          <a:bodyPr wrap="square" lIns="0" tIns="0" rIns="0" bIns="0">
            <a:spAutoFit/>
          </a:bodyPr>
          <a:lstStyle/>
          <a:p>
            <a:pPr algn="ctr">
              <a:lnSpc>
                <a:spcPct val="120000"/>
              </a:lnSpc>
              <a:defRPr sz="1597" b="1" i="0">
                <a:solidFill>
                  <a:srgbClr val="EFF5F1"/>
                </a:solidFill>
                <a:latin typeface="Instrument Sans"/>
              </a:defRPr>
            </a:pPr>
            <a:r>
              <a:rPr sz="1597" b="1" i="0">
                <a:solidFill>
                  <a:srgbClr val="EFF5F1"/>
                </a:solidFill>
                <a:latin typeface="Instrument Sans"/>
              </a:rPr>
              <a:t>Запрос</a:t>
            </a:r>
          </a:p>
        </p:txBody>
      </p:sp>
      <p:sp>
        <p:nvSpPr>
          <p:cNvPr id="22" name="TextBox 21"/>
          <p:cNvSpPr txBox="1"/>
          <p:nvPr/>
        </p:nvSpPr>
        <p:spPr>
          <a:xfrm>
            <a:off x="10389542" y="2574726"/>
            <a:ext cx="575816" cy="247650"/>
          </a:xfrm>
          <a:prstGeom prst="rect">
            <a:avLst/>
          </a:prstGeom>
          <a:noFill/>
          <a:ln>
            <a:noFill/>
          </a:ln>
          <a:effectLst>
            <a:outerShdw>
              <a:srgbClr val="000000">
                <a:alpha val="0"/>
              </a:srgbClr>
            </a:outerShdw>
          </a:effectLst>
        </p:spPr>
        <p:txBody>
          <a:bodyPr wrap="square" lIns="0" tIns="0" rIns="0" bIns="0">
            <a:spAutoFit/>
          </a:bodyPr>
          <a:lstStyle/>
          <a:p>
            <a:pPr algn="ctr">
              <a:lnSpc>
                <a:spcPct val="120000"/>
              </a:lnSpc>
              <a:defRPr sz="1597" b="1" i="0">
                <a:solidFill>
                  <a:srgbClr val="EFF5F1"/>
                </a:solidFill>
                <a:latin typeface="Instrument Sans"/>
              </a:defRPr>
            </a:pPr>
            <a:r>
              <a:rPr sz="1597" b="1" i="0">
                <a:solidFill>
                  <a:srgbClr val="EFF5F1"/>
                </a:solidFill>
                <a:latin typeface="Instrument Sans"/>
              </a:rPr>
              <a:t>Ответ</a:t>
            </a:r>
          </a:p>
        </p:txBody>
      </p:sp>
      <p:sp>
        <p:nvSpPr>
          <p:cNvPr id="23" name="TextBox 22"/>
          <p:cNvSpPr txBox="1"/>
          <p:nvPr/>
        </p:nvSpPr>
        <p:spPr>
          <a:xfrm>
            <a:off x="5818882" y="5283249"/>
            <a:ext cx="573137" cy="247650"/>
          </a:xfrm>
          <a:prstGeom prst="rect">
            <a:avLst/>
          </a:prstGeom>
          <a:noFill/>
          <a:ln>
            <a:noFill/>
          </a:ln>
          <a:effectLst>
            <a:outerShdw>
              <a:srgbClr val="000000">
                <a:alpha val="0"/>
              </a:srgbClr>
            </a:outerShdw>
          </a:effectLst>
        </p:spPr>
        <p:txBody>
          <a:bodyPr wrap="square" lIns="0" tIns="0" rIns="0" bIns="0">
            <a:spAutoFit/>
          </a:bodyPr>
          <a:lstStyle/>
          <a:p>
            <a:pPr algn="ctr">
              <a:lnSpc>
                <a:spcPct val="120000"/>
              </a:lnSpc>
              <a:defRPr sz="1597" b="1" i="0">
                <a:solidFill>
                  <a:srgbClr val="EFF5F1"/>
                </a:solidFill>
                <a:latin typeface="Instrument Sans"/>
              </a:defRPr>
            </a:pPr>
            <a:r>
              <a:rPr sz="1597" b="1" i="0">
                <a:solidFill>
                  <a:srgbClr val="EFF5F1"/>
                </a:solidFill>
                <a:latin typeface="Instrument Sans"/>
              </a:rPr>
              <a:t>Сетка</a:t>
            </a:r>
          </a:p>
        </p:txBody>
      </p:sp>
      <p:sp>
        <p:nvSpPr>
          <p:cNvPr id="24" name="TextBox 23"/>
          <p:cNvSpPr txBox="1"/>
          <p:nvPr/>
        </p:nvSpPr>
        <p:spPr>
          <a:xfrm>
            <a:off x="8878937" y="5254972"/>
            <a:ext cx="549026" cy="247650"/>
          </a:xfrm>
          <a:prstGeom prst="rect">
            <a:avLst/>
          </a:prstGeom>
          <a:noFill/>
          <a:ln>
            <a:noFill/>
          </a:ln>
          <a:effectLst>
            <a:outerShdw>
              <a:srgbClr val="000000">
                <a:alpha val="0"/>
              </a:srgbClr>
            </a:outerShdw>
          </a:effectLst>
        </p:spPr>
        <p:txBody>
          <a:bodyPr wrap="square" lIns="0" tIns="0" rIns="0" bIns="0">
            <a:spAutoFit/>
          </a:bodyPr>
          <a:lstStyle/>
          <a:p>
            <a:pPr algn="ctr">
              <a:lnSpc>
                <a:spcPct val="120000"/>
              </a:lnSpc>
              <a:defRPr sz="1597" b="1" i="0">
                <a:solidFill>
                  <a:srgbClr val="EFF5F1"/>
                </a:solidFill>
                <a:latin typeface="Instrument Sans"/>
              </a:defRPr>
            </a:pPr>
            <a:r>
              <a:rPr sz="1597" b="1" i="0">
                <a:solidFill>
                  <a:srgbClr val="EFF5F1"/>
                </a:solidFill>
                <a:latin typeface="Instrument Sans"/>
              </a:rPr>
              <a:t>2-opt</a:t>
            </a:r>
          </a:p>
        </p:txBody>
      </p:sp>
      <p:sp>
        <p:nvSpPr>
          <p:cNvPr id="25" name="Rounded Rectangle 24"/>
          <p:cNvSpPr/>
          <p:nvPr/>
        </p:nvSpPr>
        <p:spPr>
          <a:xfrm>
            <a:off x="1468338" y="4211419"/>
            <a:ext cx="111323" cy="111323"/>
          </a:xfrm>
          <a:prstGeom prst="roundRect">
            <a:avLst>
              <a:gd name="adj" fmla="val 49999"/>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ounded Rectangle 25"/>
          <p:cNvSpPr/>
          <p:nvPr/>
        </p:nvSpPr>
        <p:spPr>
          <a:xfrm>
            <a:off x="2992338" y="4212103"/>
            <a:ext cx="111323" cy="111323"/>
          </a:xfrm>
          <a:prstGeom prst="roundRect">
            <a:avLst>
              <a:gd name="adj" fmla="val 49999"/>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Rounded Rectangle 26"/>
          <p:cNvSpPr/>
          <p:nvPr/>
        </p:nvSpPr>
        <p:spPr>
          <a:xfrm>
            <a:off x="4516338" y="4211419"/>
            <a:ext cx="111323" cy="111323"/>
          </a:xfrm>
          <a:prstGeom prst="roundRect">
            <a:avLst>
              <a:gd name="adj" fmla="val 49999"/>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ounded Rectangle 27"/>
          <p:cNvSpPr/>
          <p:nvPr/>
        </p:nvSpPr>
        <p:spPr>
          <a:xfrm>
            <a:off x="6040338" y="4212103"/>
            <a:ext cx="111323" cy="111323"/>
          </a:xfrm>
          <a:prstGeom prst="roundRect">
            <a:avLst>
              <a:gd name="adj" fmla="val 49999"/>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Rounded Rectangle 28"/>
          <p:cNvSpPr/>
          <p:nvPr/>
        </p:nvSpPr>
        <p:spPr>
          <a:xfrm>
            <a:off x="7564338" y="4211419"/>
            <a:ext cx="111323" cy="111323"/>
          </a:xfrm>
          <a:prstGeom prst="roundRect">
            <a:avLst>
              <a:gd name="adj" fmla="val 49999"/>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Rounded Rectangle 29"/>
          <p:cNvSpPr/>
          <p:nvPr/>
        </p:nvSpPr>
        <p:spPr>
          <a:xfrm>
            <a:off x="9088338" y="4212103"/>
            <a:ext cx="111323" cy="111323"/>
          </a:xfrm>
          <a:prstGeom prst="roundRect">
            <a:avLst>
              <a:gd name="adj" fmla="val 49999"/>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10612338" y="4211419"/>
            <a:ext cx="111323" cy="111323"/>
          </a:xfrm>
          <a:prstGeom prst="roundRect">
            <a:avLst>
              <a:gd name="adj" fmla="val 49999"/>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Rectangle 31"/>
          <p:cNvSpPr/>
          <p:nvPr/>
        </p:nvSpPr>
        <p:spPr>
          <a:xfrm>
            <a:off x="3035200" y="4378672"/>
            <a:ext cx="25598" cy="476250"/>
          </a:xfrm>
          <a:prstGeom prst="rect">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Rectangle 32"/>
          <p:cNvSpPr/>
          <p:nvPr/>
        </p:nvSpPr>
        <p:spPr>
          <a:xfrm>
            <a:off x="6083200" y="4378672"/>
            <a:ext cx="25598" cy="476250"/>
          </a:xfrm>
          <a:prstGeom prst="rect">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Rectangle 33"/>
          <p:cNvSpPr/>
          <p:nvPr/>
        </p:nvSpPr>
        <p:spPr>
          <a:xfrm>
            <a:off x="9131200" y="4378672"/>
            <a:ext cx="25598" cy="476250"/>
          </a:xfrm>
          <a:prstGeom prst="rect">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ectangle 34"/>
          <p:cNvSpPr/>
          <p:nvPr/>
        </p:nvSpPr>
        <p:spPr>
          <a:xfrm>
            <a:off x="1511200" y="3698974"/>
            <a:ext cx="25598" cy="457200"/>
          </a:xfrm>
          <a:prstGeom prst="rect">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4559200" y="3698974"/>
            <a:ext cx="25598" cy="457200"/>
          </a:xfrm>
          <a:prstGeom prst="rect">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Rectangle 36"/>
          <p:cNvSpPr/>
          <p:nvPr/>
        </p:nvSpPr>
        <p:spPr>
          <a:xfrm>
            <a:off x="7607200" y="3698974"/>
            <a:ext cx="25598" cy="457200"/>
          </a:xfrm>
          <a:prstGeom prst="rect">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Rectangle 37"/>
          <p:cNvSpPr/>
          <p:nvPr/>
        </p:nvSpPr>
        <p:spPr>
          <a:xfrm>
            <a:off x="10655200" y="3698974"/>
            <a:ext cx="25598" cy="457200"/>
          </a:xfrm>
          <a:prstGeom prst="rect">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39" name="Picture 38" descr="442f7278-26d4-4986-9705-ef45dd0415f0.png"/>
          <p:cNvPicPr>
            <a:picLocks noChangeAspect="1"/>
          </p:cNvPicPr>
          <p:nvPr/>
        </p:nvPicPr>
        <p:blipFill>
          <a:blip r:embed="rId3"/>
          <a:stretch>
            <a:fillRect/>
          </a:stretch>
        </p:blipFill>
        <p:spPr>
          <a:xfrm>
            <a:off x="1476375" y="3651349"/>
            <a:ext cx="95250" cy="95250"/>
          </a:xfrm>
          <a:prstGeom prst="rect">
            <a:avLst/>
          </a:prstGeom>
        </p:spPr>
      </p:pic>
      <p:pic>
        <p:nvPicPr>
          <p:cNvPr id="40" name="Picture 39" descr="3ea2065a-a7f9-4225-b4a0-9d2ec34072a1.png"/>
          <p:cNvPicPr>
            <a:picLocks noChangeAspect="1"/>
          </p:cNvPicPr>
          <p:nvPr/>
        </p:nvPicPr>
        <p:blipFill>
          <a:blip r:embed="rId4"/>
          <a:stretch>
            <a:fillRect/>
          </a:stretch>
        </p:blipFill>
        <p:spPr>
          <a:xfrm rot="10800000">
            <a:off x="3000375" y="4807297"/>
            <a:ext cx="95250" cy="95250"/>
          </a:xfrm>
          <a:prstGeom prst="rect">
            <a:avLst/>
          </a:prstGeom>
        </p:spPr>
      </p:pic>
      <p:pic>
        <p:nvPicPr>
          <p:cNvPr id="41" name="Picture 40" descr="802b2a50-753d-497e-aa06-52b490b6b2c6.png"/>
          <p:cNvPicPr>
            <a:picLocks noChangeAspect="1"/>
          </p:cNvPicPr>
          <p:nvPr/>
        </p:nvPicPr>
        <p:blipFill>
          <a:blip r:embed="rId5"/>
          <a:stretch>
            <a:fillRect/>
          </a:stretch>
        </p:blipFill>
        <p:spPr>
          <a:xfrm>
            <a:off x="4524375" y="3651349"/>
            <a:ext cx="95250" cy="95250"/>
          </a:xfrm>
          <a:prstGeom prst="rect">
            <a:avLst/>
          </a:prstGeom>
        </p:spPr>
      </p:pic>
      <p:pic>
        <p:nvPicPr>
          <p:cNvPr id="42" name="Picture 41" descr="3ea2065a-a7f9-4225-b4a0-9d2ec34072a1.png"/>
          <p:cNvPicPr>
            <a:picLocks noChangeAspect="1"/>
          </p:cNvPicPr>
          <p:nvPr/>
        </p:nvPicPr>
        <p:blipFill>
          <a:blip r:embed="rId4"/>
          <a:stretch>
            <a:fillRect/>
          </a:stretch>
        </p:blipFill>
        <p:spPr>
          <a:xfrm rot="10800000">
            <a:off x="6048375" y="4807297"/>
            <a:ext cx="95250" cy="95250"/>
          </a:xfrm>
          <a:prstGeom prst="rect">
            <a:avLst/>
          </a:prstGeom>
        </p:spPr>
      </p:pic>
      <p:pic>
        <p:nvPicPr>
          <p:cNvPr id="43" name="Picture 42" descr="802b2a50-753d-497e-aa06-52b490b6b2c6.png"/>
          <p:cNvPicPr>
            <a:picLocks noChangeAspect="1"/>
          </p:cNvPicPr>
          <p:nvPr/>
        </p:nvPicPr>
        <p:blipFill>
          <a:blip r:embed="rId5"/>
          <a:stretch>
            <a:fillRect/>
          </a:stretch>
        </p:blipFill>
        <p:spPr>
          <a:xfrm>
            <a:off x="7572375" y="3651349"/>
            <a:ext cx="95250" cy="95250"/>
          </a:xfrm>
          <a:prstGeom prst="rect">
            <a:avLst/>
          </a:prstGeom>
        </p:spPr>
      </p:pic>
      <p:pic>
        <p:nvPicPr>
          <p:cNvPr id="44" name="Picture 43" descr="3ea2065a-a7f9-4225-b4a0-9d2ec34072a1.png"/>
          <p:cNvPicPr>
            <a:picLocks noChangeAspect="1"/>
          </p:cNvPicPr>
          <p:nvPr/>
        </p:nvPicPr>
        <p:blipFill>
          <a:blip r:embed="rId4"/>
          <a:stretch>
            <a:fillRect/>
          </a:stretch>
        </p:blipFill>
        <p:spPr>
          <a:xfrm rot="10800000">
            <a:off x="9096375" y="4807297"/>
            <a:ext cx="95250" cy="95250"/>
          </a:xfrm>
          <a:prstGeom prst="rect">
            <a:avLst/>
          </a:prstGeom>
        </p:spPr>
      </p:pic>
      <p:pic>
        <p:nvPicPr>
          <p:cNvPr id="45" name="Picture 44" descr="802b2a50-753d-497e-aa06-52b490b6b2c6.png"/>
          <p:cNvPicPr>
            <a:picLocks noChangeAspect="1"/>
          </p:cNvPicPr>
          <p:nvPr/>
        </p:nvPicPr>
        <p:blipFill>
          <a:blip r:embed="rId5"/>
          <a:stretch>
            <a:fillRect/>
          </a:stretch>
        </p:blipFill>
        <p:spPr>
          <a:xfrm>
            <a:off x="10620375" y="3651349"/>
            <a:ext cx="95250" cy="952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TextBox 1"/>
          <p:cNvSpPr txBox="1"/>
          <p:nvPr/>
        </p:nvSpPr>
        <p:spPr>
          <a:xfrm>
            <a:off x="1095375" y="3292673"/>
            <a:ext cx="4359771" cy="1004887"/>
          </a:xfrm>
          <a:prstGeom prst="rect">
            <a:avLst/>
          </a:prstGeom>
          <a:noFill/>
          <a:ln>
            <a:noFill/>
          </a:ln>
          <a:effectLst>
            <a:outerShdw>
              <a:srgbClr val="000000">
                <a:alpha val="0"/>
              </a:srgbClr>
            </a:outerShdw>
          </a:effectLst>
        </p:spPr>
        <p:txBody>
          <a:bodyPr wrap="square" lIns="0" tIns="0" rIns="0" bIns="0">
            <a:spAutoFit/>
          </a:bodyPr>
          <a:lstStyle/>
          <a:p>
            <a:pPr>
              <a:lnSpc>
                <a:spcPct val="142500"/>
              </a:lnSpc>
              <a:defRPr sz="1200" b="0" i="0">
                <a:solidFill>
                  <a:srgbClr val="EFF5F1"/>
                </a:solidFill>
                <a:latin typeface="Instrument Sans"/>
              </a:defRPr>
            </a:pPr>
            <a:r>
              <a:rPr sz="1200" b="0" i="0">
                <a:solidFill>
                  <a:srgbClr val="EFF5F1"/>
                </a:solidFill>
                <a:latin typeface="Instrument Sans"/>
              </a:rPr>
              <a:t>Маршрут БПЛА строится в три этапа: расчёт сетки точек съёмки на основе параметров камеры </a:t>
            </a:r>
            <a:r>
              <a:rPr sz="1200" b="1" i="0">
                <a:solidFill>
                  <a:srgbClr val="EFF5F1"/>
                </a:solidFill>
                <a:latin typeface="Instrument Sans"/>
              </a:rPr>
              <a:t>DJI Mavic 3 Enterprise</a:t>
            </a:r>
            <a:r>
              <a:rPr sz="1200" b="0" i="0">
                <a:solidFill>
                  <a:srgbClr val="EFF5F1"/>
                </a:solidFill>
                <a:latin typeface="Instrument Sans"/>
              </a:rPr>
              <a:t>, построение начального пути жадным алгоритмом и последующая оптимизация методом </a:t>
            </a:r>
            <a:r>
              <a:rPr sz="1200" b="1" i="0">
                <a:solidFill>
                  <a:srgbClr val="EFF5F1"/>
                </a:solidFill>
                <a:latin typeface="Instrument Sans"/>
              </a:rPr>
              <a:t>2-opt</a:t>
            </a:r>
            <a:r>
              <a:rPr sz="1200" b="0" i="0">
                <a:solidFill>
                  <a:srgbClr val="EFF5F1"/>
                </a:solidFill>
                <a:latin typeface="Instrument Sans"/>
              </a:rPr>
              <a:t> для устранения пересечений.</a:t>
            </a:r>
          </a:p>
        </p:txBody>
      </p:sp>
      <p:pic>
        <p:nvPicPr>
          <p:cNvPr id="3" name="Picture 2" descr="769543c8-2004-49d1-8958-66c3ee865933.png"/>
          <p:cNvPicPr>
            <a:picLocks noChangeAspect="1"/>
          </p:cNvPicPr>
          <p:nvPr/>
        </p:nvPicPr>
        <p:blipFill>
          <a:blip r:embed="rId3"/>
          <a:stretch>
            <a:fillRect/>
          </a:stretch>
        </p:blipFill>
        <p:spPr>
          <a:xfrm>
            <a:off x="6896992" y="814089"/>
            <a:ext cx="4199632" cy="893564"/>
          </a:xfrm>
          <a:prstGeom prst="rect">
            <a:avLst/>
          </a:prstGeom>
        </p:spPr>
      </p:pic>
      <p:pic>
        <p:nvPicPr>
          <p:cNvPr id="4" name="Picture 3" descr="769543c8-2004-49d1-8958-66c3ee865933.png"/>
          <p:cNvPicPr>
            <a:picLocks noChangeAspect="1"/>
          </p:cNvPicPr>
          <p:nvPr/>
        </p:nvPicPr>
        <p:blipFill>
          <a:blip r:embed="rId3"/>
          <a:stretch>
            <a:fillRect/>
          </a:stretch>
        </p:blipFill>
        <p:spPr>
          <a:xfrm>
            <a:off x="6896992" y="1898153"/>
            <a:ext cx="4199632" cy="893564"/>
          </a:xfrm>
          <a:prstGeom prst="rect">
            <a:avLst/>
          </a:prstGeom>
        </p:spPr>
      </p:pic>
      <p:pic>
        <p:nvPicPr>
          <p:cNvPr id="5" name="Picture 4" descr="33702fa7-0c57-4f95-a120-adad16b4c0d7.png"/>
          <p:cNvPicPr>
            <a:picLocks noChangeAspect="1"/>
          </p:cNvPicPr>
          <p:nvPr/>
        </p:nvPicPr>
        <p:blipFill>
          <a:blip r:embed="rId4"/>
          <a:stretch>
            <a:fillRect/>
          </a:stretch>
        </p:blipFill>
        <p:spPr>
          <a:xfrm>
            <a:off x="6896992" y="2982217"/>
            <a:ext cx="4199632" cy="893564"/>
          </a:xfrm>
          <a:prstGeom prst="rect">
            <a:avLst/>
          </a:prstGeom>
        </p:spPr>
      </p:pic>
      <p:pic>
        <p:nvPicPr>
          <p:cNvPr id="6" name="Picture 5" descr="769543c8-2004-49d1-8958-66c3ee865933.png"/>
          <p:cNvPicPr>
            <a:picLocks noChangeAspect="1"/>
          </p:cNvPicPr>
          <p:nvPr/>
        </p:nvPicPr>
        <p:blipFill>
          <a:blip r:embed="rId3"/>
          <a:stretch>
            <a:fillRect/>
          </a:stretch>
        </p:blipFill>
        <p:spPr>
          <a:xfrm>
            <a:off x="6896992" y="4066282"/>
            <a:ext cx="4199632" cy="893564"/>
          </a:xfrm>
          <a:prstGeom prst="rect">
            <a:avLst/>
          </a:prstGeom>
        </p:spPr>
      </p:pic>
      <p:pic>
        <p:nvPicPr>
          <p:cNvPr id="7" name="Picture 6" descr="33702fa7-0c57-4f95-a120-adad16b4c0d7.png"/>
          <p:cNvPicPr>
            <a:picLocks noChangeAspect="1"/>
          </p:cNvPicPr>
          <p:nvPr/>
        </p:nvPicPr>
        <p:blipFill>
          <a:blip r:embed="rId4"/>
          <a:stretch>
            <a:fillRect/>
          </a:stretch>
        </p:blipFill>
        <p:spPr>
          <a:xfrm>
            <a:off x="6896992" y="5150346"/>
            <a:ext cx="4199632" cy="893564"/>
          </a:xfrm>
          <a:prstGeom prst="rect">
            <a:avLst/>
          </a:prstGeom>
        </p:spPr>
      </p:pic>
      <p:sp>
        <p:nvSpPr>
          <p:cNvPr id="8" name="TextBox 7"/>
          <p:cNvSpPr txBox="1"/>
          <p:nvPr/>
        </p:nvSpPr>
        <p:spPr>
          <a:xfrm>
            <a:off x="1095375" y="2517576"/>
            <a:ext cx="4364087" cy="495300"/>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3202" b="1" i="0" spc="-120">
                <a:solidFill>
                  <a:srgbClr val="EFF5F1"/>
                </a:solidFill>
                <a:latin typeface="Instrument Sans"/>
              </a:defRPr>
            </a:pPr>
            <a:r>
              <a:rPr sz="3202" b="1" i="0">
                <a:solidFill>
                  <a:srgbClr val="EFF5F1"/>
                </a:solidFill>
                <a:latin typeface="Instrument Sans"/>
              </a:rPr>
              <a:t>Планирование маршрута</a:t>
            </a:r>
          </a:p>
        </p:txBody>
      </p:sp>
      <p:sp>
        <p:nvSpPr>
          <p:cNvPr id="9" name="TextBox 8"/>
          <p:cNvSpPr txBox="1"/>
          <p:nvPr/>
        </p:nvSpPr>
        <p:spPr>
          <a:xfrm>
            <a:off x="7125592" y="5531346"/>
            <a:ext cx="3651349" cy="356294"/>
          </a:xfrm>
          <a:prstGeom prst="rect">
            <a:avLst/>
          </a:prstGeom>
          <a:noFill/>
          <a:ln>
            <a:noFill/>
          </a:ln>
          <a:effectLst>
            <a:outerShdw>
              <a:srgbClr val="000000">
                <a:alpha val="0"/>
              </a:srgbClr>
            </a:outerShdw>
          </a:effectLst>
        </p:spPr>
        <p:txBody>
          <a:bodyPr wrap="square" lIns="0" tIns="0" rIns="0" bIns="0">
            <a:spAutoFit/>
          </a:bodyPr>
          <a:lstStyle/>
          <a:p>
            <a:pPr>
              <a:lnSpc>
                <a:spcPct val="96209"/>
              </a:lnSpc>
              <a:defRPr sz="1147" b="0" i="0">
                <a:solidFill>
                  <a:srgbClr val="EFF5F1"/>
                </a:solidFill>
                <a:latin typeface="Instrument Sans"/>
              </a:defRPr>
            </a:pPr>
            <a:r>
              <a:rPr sz="1147" b="0" i="0">
                <a:solidFill>
                  <a:srgbClr val="EFF5F1"/>
                </a:solidFill>
                <a:latin typeface="Instrument Sans"/>
              </a:rPr>
              <a:t>До </a:t>
            </a:r>
            <a:r>
              <a:rPr sz="1147" b="1" i="0">
                <a:solidFill>
                  <a:srgbClr val="EFF5F1"/>
                </a:solidFill>
                <a:latin typeface="Instrument Sans"/>
              </a:rPr>
              <a:t>200 итераций</a:t>
            </a:r>
            <a:r>
              <a:rPr sz="1147" b="0" i="0">
                <a:solidFill>
                  <a:srgbClr val="EFF5F1"/>
                </a:solidFill>
                <a:latin typeface="Instrument Sans"/>
              </a:rPr>
              <a:t>; завершение при отсутствии улучшений длины маршрута.</a:t>
            </a:r>
          </a:p>
        </p:txBody>
      </p:sp>
      <p:sp>
        <p:nvSpPr>
          <p:cNvPr id="10" name="TextBox 9"/>
          <p:cNvSpPr txBox="1"/>
          <p:nvPr/>
        </p:nvSpPr>
        <p:spPr>
          <a:xfrm>
            <a:off x="7125592" y="4447282"/>
            <a:ext cx="3616225" cy="356294"/>
          </a:xfrm>
          <a:prstGeom prst="rect">
            <a:avLst/>
          </a:prstGeom>
          <a:noFill/>
          <a:ln>
            <a:noFill/>
          </a:ln>
          <a:effectLst>
            <a:outerShdw>
              <a:srgbClr val="000000">
                <a:alpha val="0"/>
              </a:srgbClr>
            </a:outerShdw>
          </a:effectLst>
        </p:spPr>
        <p:txBody>
          <a:bodyPr wrap="square" lIns="0" tIns="0" rIns="0" bIns="0">
            <a:spAutoFit/>
          </a:bodyPr>
          <a:lstStyle/>
          <a:p>
            <a:pPr>
              <a:lnSpc>
                <a:spcPct val="96209"/>
              </a:lnSpc>
              <a:defRPr sz="1147" b="0" i="0">
                <a:solidFill>
                  <a:srgbClr val="EFF5F1"/>
                </a:solidFill>
                <a:latin typeface="Instrument Sans"/>
              </a:defRPr>
            </a:pPr>
            <a:r>
              <a:rPr sz="1147" b="0" i="0">
                <a:solidFill>
                  <a:srgbClr val="EFF5F1"/>
                </a:solidFill>
                <a:latin typeface="Instrument Sans"/>
              </a:rPr>
              <a:t>Разворот участков для устранения пересечений маршрута, повышает эффективность пути.</a:t>
            </a:r>
          </a:p>
        </p:txBody>
      </p:sp>
      <p:sp>
        <p:nvSpPr>
          <p:cNvPr id="11" name="TextBox 10"/>
          <p:cNvSpPr txBox="1"/>
          <p:nvPr/>
        </p:nvSpPr>
        <p:spPr>
          <a:xfrm>
            <a:off x="7125592" y="2279153"/>
            <a:ext cx="3585716" cy="356294"/>
          </a:xfrm>
          <a:prstGeom prst="rect">
            <a:avLst/>
          </a:prstGeom>
          <a:noFill/>
          <a:ln>
            <a:noFill/>
          </a:ln>
          <a:effectLst>
            <a:outerShdw>
              <a:srgbClr val="000000">
                <a:alpha val="0"/>
              </a:srgbClr>
            </a:outerShdw>
          </a:effectLst>
        </p:spPr>
        <p:txBody>
          <a:bodyPr wrap="square" lIns="0" tIns="0" rIns="0" bIns="0">
            <a:spAutoFit/>
          </a:bodyPr>
          <a:lstStyle/>
          <a:p>
            <a:pPr>
              <a:lnSpc>
                <a:spcPct val="96209"/>
              </a:lnSpc>
              <a:defRPr sz="1147" b="0" i="0">
                <a:solidFill>
                  <a:srgbClr val="EFF5F1"/>
                </a:solidFill>
                <a:latin typeface="Instrument Sans"/>
              </a:defRPr>
            </a:pPr>
            <a:r>
              <a:rPr sz="1147" b="0" i="0">
                <a:solidFill>
                  <a:srgbClr val="EFF5F1"/>
                </a:solidFill>
                <a:latin typeface="Instrument Sans"/>
              </a:rPr>
              <a:t>DJI Mavic 3 Enterprise: матрица 17.3 × 13.0 мм, фокусное расстояние 12.29 мм.</a:t>
            </a:r>
          </a:p>
        </p:txBody>
      </p:sp>
      <p:sp>
        <p:nvSpPr>
          <p:cNvPr id="12" name="TextBox 11"/>
          <p:cNvSpPr txBox="1"/>
          <p:nvPr/>
        </p:nvSpPr>
        <p:spPr>
          <a:xfrm>
            <a:off x="7125592" y="3363217"/>
            <a:ext cx="3530947" cy="356294"/>
          </a:xfrm>
          <a:prstGeom prst="rect">
            <a:avLst/>
          </a:prstGeom>
          <a:noFill/>
          <a:ln>
            <a:noFill/>
          </a:ln>
          <a:effectLst>
            <a:outerShdw>
              <a:srgbClr val="000000">
                <a:alpha val="0"/>
              </a:srgbClr>
            </a:outerShdw>
          </a:effectLst>
        </p:spPr>
        <p:txBody>
          <a:bodyPr wrap="square" lIns="0" tIns="0" rIns="0" bIns="0">
            <a:spAutoFit/>
          </a:bodyPr>
          <a:lstStyle/>
          <a:p>
            <a:pPr>
              <a:lnSpc>
                <a:spcPct val="96209"/>
              </a:lnSpc>
              <a:defRPr sz="1147" b="0" i="0">
                <a:solidFill>
                  <a:srgbClr val="EFF5F1"/>
                </a:solidFill>
                <a:latin typeface="Instrument Sans"/>
              </a:defRPr>
            </a:pPr>
            <a:r>
              <a:rPr sz="1147" b="0" i="0">
                <a:solidFill>
                  <a:srgbClr val="EFF5F1"/>
                </a:solidFill>
                <a:latin typeface="Instrument Sans"/>
              </a:rPr>
              <a:t>Жадный выбор ближайшей непосещённой точки от юго-западного угла, сложность </a:t>
            </a:r>
            <a:r>
              <a:rPr sz="1147" b="0" i="1">
                <a:solidFill>
                  <a:srgbClr val="EFF5F1"/>
                </a:solidFill>
                <a:latin typeface="Instrument Sans"/>
              </a:rPr>
              <a:t>O(n²)</a:t>
            </a:r>
            <a:r>
              <a:rPr sz="1147" b="0" i="0">
                <a:solidFill>
                  <a:srgbClr val="EFF5F1"/>
                </a:solidFill>
                <a:latin typeface="Instrument Sans"/>
              </a:rPr>
              <a:t>.</a:t>
            </a:r>
          </a:p>
        </p:txBody>
      </p:sp>
      <p:sp>
        <p:nvSpPr>
          <p:cNvPr id="13" name="TextBox 12"/>
          <p:cNvSpPr txBox="1"/>
          <p:nvPr/>
        </p:nvSpPr>
        <p:spPr>
          <a:xfrm>
            <a:off x="7125592" y="1195089"/>
            <a:ext cx="3389560" cy="356294"/>
          </a:xfrm>
          <a:prstGeom prst="rect">
            <a:avLst/>
          </a:prstGeom>
          <a:noFill/>
          <a:ln>
            <a:noFill/>
          </a:ln>
          <a:effectLst>
            <a:outerShdw>
              <a:srgbClr val="000000">
                <a:alpha val="0"/>
              </a:srgbClr>
            </a:outerShdw>
          </a:effectLst>
        </p:spPr>
        <p:txBody>
          <a:bodyPr wrap="square" lIns="0" tIns="0" rIns="0" bIns="0">
            <a:spAutoFit/>
          </a:bodyPr>
          <a:lstStyle/>
          <a:p>
            <a:pPr>
              <a:lnSpc>
                <a:spcPct val="96209"/>
              </a:lnSpc>
              <a:defRPr sz="1147" b="0" i="0">
                <a:solidFill>
                  <a:srgbClr val="EFF5F1"/>
                </a:solidFill>
                <a:latin typeface="Instrument Sans"/>
              </a:defRPr>
            </a:pPr>
            <a:r>
              <a:rPr sz="1147" b="0" i="0">
                <a:solidFill>
                  <a:srgbClr val="EFF5F1"/>
                </a:solidFill>
                <a:latin typeface="Instrument Sans"/>
              </a:rPr>
              <a:t>footprint = (размер матрицы × высота) / фокус; step = footprint × (1 − overlap/100).</a:t>
            </a:r>
          </a:p>
        </p:txBody>
      </p:sp>
      <p:sp>
        <p:nvSpPr>
          <p:cNvPr id="14" name="TextBox 13"/>
          <p:cNvSpPr txBox="1"/>
          <p:nvPr/>
        </p:nvSpPr>
        <p:spPr>
          <a:xfrm>
            <a:off x="7125592" y="2050553"/>
            <a:ext cx="1521321"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Параметры камеры</a:t>
            </a:r>
          </a:p>
        </p:txBody>
      </p:sp>
      <p:sp>
        <p:nvSpPr>
          <p:cNvPr id="15" name="TextBox 14"/>
          <p:cNvSpPr txBox="1"/>
          <p:nvPr/>
        </p:nvSpPr>
        <p:spPr>
          <a:xfrm>
            <a:off x="7125592" y="4218682"/>
            <a:ext cx="1485602"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2-opt оптимизация</a:t>
            </a:r>
          </a:p>
        </p:txBody>
      </p:sp>
      <p:sp>
        <p:nvSpPr>
          <p:cNvPr id="16" name="TextBox 15"/>
          <p:cNvSpPr txBox="1"/>
          <p:nvPr/>
        </p:nvSpPr>
        <p:spPr>
          <a:xfrm>
            <a:off x="7125592" y="5302746"/>
            <a:ext cx="1460003"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Условия остановки</a:t>
            </a:r>
          </a:p>
        </p:txBody>
      </p:sp>
      <p:sp>
        <p:nvSpPr>
          <p:cNvPr id="17" name="TextBox 16"/>
          <p:cNvSpPr txBox="1"/>
          <p:nvPr/>
        </p:nvSpPr>
        <p:spPr>
          <a:xfrm>
            <a:off x="7125592" y="966489"/>
            <a:ext cx="1434851"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Расчёт сетки точек</a:t>
            </a:r>
          </a:p>
        </p:txBody>
      </p:sp>
      <p:sp>
        <p:nvSpPr>
          <p:cNvPr id="18" name="TextBox 17"/>
          <p:cNvSpPr txBox="1"/>
          <p:nvPr/>
        </p:nvSpPr>
        <p:spPr>
          <a:xfrm>
            <a:off x="7125592" y="3134617"/>
            <a:ext cx="1415653"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Nearest Neighbor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p:blipFill>
        <p:spPr>
          <a:xfrm>
            <a:off x="6638925" y="953354"/>
            <a:ext cx="5057775" cy="5150720"/>
          </a:xfrm>
          <a:prstGeom prst="rect">
            <a:avLst/>
          </a:prstGeom>
        </p:spPr>
      </p:pic>
      <p:sp>
        <p:nvSpPr>
          <p:cNvPr id="3" name="Rounded Rectangle 2"/>
          <p:cNvSpPr/>
          <p:nvPr/>
        </p:nvSpPr>
        <p:spPr>
          <a:xfrm>
            <a:off x="495300" y="2610594"/>
            <a:ext cx="2466975" cy="1457325"/>
          </a:xfrm>
          <a:prstGeom prst="roundRect">
            <a:avLst>
              <a:gd name="adj" fmla="val 2287"/>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266700" tIns="266700" rIns="266700" bIns="266700" rtlCol="0" anchor="ctr"/>
          <a:lstStyle/>
          <a:p>
            <a:pPr algn="ctr"/>
            <a:endParaRPr/>
          </a:p>
        </p:txBody>
      </p:sp>
      <p:sp>
        <p:nvSpPr>
          <p:cNvPr id="4" name="Rounded Rectangle 3"/>
          <p:cNvSpPr/>
          <p:nvPr/>
        </p:nvSpPr>
        <p:spPr>
          <a:xfrm>
            <a:off x="3238500" y="2610594"/>
            <a:ext cx="2466975" cy="1457325"/>
          </a:xfrm>
          <a:prstGeom prst="roundRect">
            <a:avLst>
              <a:gd name="adj" fmla="val 2287"/>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266700" tIns="266700" rIns="266700" bIns="266700" rtlCol="0" anchor="ctr"/>
          <a:lstStyle/>
          <a:p>
            <a:pPr algn="ctr"/>
            <a:endParaRPr/>
          </a:p>
        </p:txBody>
      </p:sp>
      <p:sp>
        <p:nvSpPr>
          <p:cNvPr id="5" name="Rounded Rectangle 4"/>
          <p:cNvSpPr/>
          <p:nvPr/>
        </p:nvSpPr>
        <p:spPr>
          <a:xfrm>
            <a:off x="495300" y="4258419"/>
            <a:ext cx="2466975" cy="1457325"/>
          </a:xfrm>
          <a:prstGeom prst="roundRect">
            <a:avLst>
              <a:gd name="adj" fmla="val 2287"/>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266700" tIns="266700" rIns="266700" bIns="266700" rtlCol="0" anchor="ctr"/>
          <a:lstStyle/>
          <a:p>
            <a:pPr algn="ctr"/>
            <a:endParaRPr/>
          </a:p>
        </p:txBody>
      </p:sp>
      <p:sp>
        <p:nvSpPr>
          <p:cNvPr id="6" name="Rounded Rectangle 5"/>
          <p:cNvSpPr/>
          <p:nvPr/>
        </p:nvSpPr>
        <p:spPr>
          <a:xfrm>
            <a:off x="3238500" y="4258419"/>
            <a:ext cx="2466975" cy="1457325"/>
          </a:xfrm>
          <a:prstGeom prst="roundRect">
            <a:avLst>
              <a:gd name="adj" fmla="val 2287"/>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266700" tIns="266700" rIns="266700" bIns="266700" rtlCol="0" anchor="ctr"/>
          <a:lstStyle/>
          <a:p>
            <a:pPr algn="ctr"/>
            <a:endParaRPr/>
          </a:p>
        </p:txBody>
      </p:sp>
      <p:sp>
        <p:nvSpPr>
          <p:cNvPr id="7" name="TextBox 6"/>
          <p:cNvSpPr txBox="1"/>
          <p:nvPr/>
        </p:nvSpPr>
        <p:spPr>
          <a:xfrm>
            <a:off x="495300" y="1113680"/>
            <a:ext cx="4239369" cy="495300"/>
          </a:xfrm>
          <a:prstGeom prst="rect">
            <a:avLst/>
          </a:prstGeom>
          <a:noFill/>
          <a:ln>
            <a:noFill/>
          </a:ln>
          <a:effectLst>
            <a:outerShdw>
              <a:srgbClr val="000000">
                <a:alpha val="0"/>
              </a:srgbClr>
            </a:outerShdw>
          </a:effectLst>
        </p:spPr>
        <p:txBody>
          <a:bodyPr wrap="square" lIns="0" tIns="0" rIns="0" bIns="0">
            <a:spAutoFit/>
          </a:bodyPr>
          <a:lstStyle/>
          <a:p>
            <a:pPr>
              <a:lnSpc>
                <a:spcPct val="88000"/>
              </a:lnSpc>
              <a:defRPr sz="3202" b="1" i="0" spc="-120">
                <a:solidFill>
                  <a:srgbClr val="EFF5F1"/>
                </a:solidFill>
                <a:latin typeface="Instrument Sans"/>
              </a:defRPr>
            </a:pPr>
            <a:r>
              <a:rPr sz="3202" b="1" i="0">
                <a:solidFill>
                  <a:srgbClr val="EFF5F1"/>
                </a:solidFill>
                <a:latin typeface="Instrument Sans"/>
              </a:rPr>
              <a:t>Визуализация маршрута</a:t>
            </a:r>
          </a:p>
        </p:txBody>
      </p:sp>
      <p:sp>
        <p:nvSpPr>
          <p:cNvPr id="8" name="TextBox 7"/>
          <p:cNvSpPr txBox="1"/>
          <p:nvPr/>
        </p:nvSpPr>
        <p:spPr>
          <a:xfrm>
            <a:off x="495300" y="1837283"/>
            <a:ext cx="4509343" cy="434280"/>
          </a:xfrm>
          <a:prstGeom prst="rect">
            <a:avLst/>
          </a:prstGeom>
          <a:noFill/>
          <a:ln>
            <a:noFill/>
          </a:ln>
          <a:effectLst>
            <a:outerShdw>
              <a:srgbClr val="000000">
                <a:alpha val="0"/>
              </a:srgbClr>
            </a:outerShdw>
          </a:effectLst>
        </p:spPr>
        <p:txBody>
          <a:bodyPr wrap="square" lIns="0" tIns="0" rIns="0" bIns="0">
            <a:spAutoFit/>
          </a:bodyPr>
          <a:lstStyle/>
          <a:p>
            <a:pPr>
              <a:lnSpc>
                <a:spcPct val="128000"/>
              </a:lnSpc>
              <a:defRPr sz="1200" b="0" i="0">
                <a:solidFill>
                  <a:srgbClr val="EFF5F1"/>
                </a:solidFill>
                <a:latin typeface="Instrument Sans"/>
              </a:defRPr>
            </a:pPr>
            <a:r>
              <a:rPr sz="1200" b="0" i="0" dirty="0" err="1">
                <a:solidFill>
                  <a:srgbClr val="EFF5F1"/>
                </a:solidFill>
                <a:latin typeface="Instrument Sans"/>
              </a:rPr>
              <a:t>Параметры</a:t>
            </a:r>
            <a:r>
              <a:rPr sz="1200" b="0" i="0" dirty="0">
                <a:solidFill>
                  <a:srgbClr val="EFF5F1"/>
                </a:solidFill>
                <a:latin typeface="Instrument Sans"/>
              </a:rPr>
              <a:t> </a:t>
            </a:r>
            <a:r>
              <a:rPr sz="1200" b="0" i="0" dirty="0" err="1">
                <a:solidFill>
                  <a:srgbClr val="EFF5F1"/>
                </a:solidFill>
                <a:latin typeface="Instrument Sans"/>
              </a:rPr>
              <a:t>тестовой</a:t>
            </a:r>
            <a:r>
              <a:rPr sz="1200" b="0" i="0" dirty="0">
                <a:solidFill>
                  <a:srgbClr val="EFF5F1"/>
                </a:solidFill>
                <a:latin typeface="Instrument Sans"/>
              </a:rPr>
              <a:t> </a:t>
            </a:r>
            <a:r>
              <a:rPr sz="1200" b="0" i="0" dirty="0" err="1">
                <a:solidFill>
                  <a:srgbClr val="EFF5F1"/>
                </a:solidFill>
                <a:latin typeface="Instrument Sans"/>
              </a:rPr>
              <a:t>миссии</a:t>
            </a:r>
            <a:r>
              <a:rPr sz="1200" b="0" i="0" dirty="0">
                <a:solidFill>
                  <a:srgbClr val="EFF5F1"/>
                </a:solidFill>
                <a:latin typeface="Instrument Sans"/>
              </a:rPr>
              <a:t> и </a:t>
            </a:r>
            <a:r>
              <a:rPr sz="1200" b="0" i="0" dirty="0" err="1">
                <a:solidFill>
                  <a:srgbClr val="EFF5F1"/>
                </a:solidFill>
                <a:latin typeface="Instrument Sans"/>
              </a:rPr>
              <a:t>обозначения</a:t>
            </a:r>
            <a:r>
              <a:rPr sz="1200" b="0" i="0" dirty="0">
                <a:solidFill>
                  <a:srgbClr val="EFF5F1"/>
                </a:solidFill>
                <a:latin typeface="Instrument Sans"/>
              </a:rPr>
              <a:t> </a:t>
            </a:r>
            <a:r>
              <a:rPr sz="1200" b="0" i="0" dirty="0" err="1">
                <a:solidFill>
                  <a:srgbClr val="EFF5F1"/>
                </a:solidFill>
                <a:latin typeface="Instrument Sans"/>
              </a:rPr>
              <a:t>на</a:t>
            </a:r>
            <a:r>
              <a:rPr sz="1200" b="0" i="0" dirty="0">
                <a:solidFill>
                  <a:srgbClr val="EFF5F1"/>
                </a:solidFill>
                <a:latin typeface="Instrument Sans"/>
              </a:rPr>
              <a:t> </a:t>
            </a:r>
            <a:r>
              <a:rPr sz="1200" b="0" i="0" dirty="0" err="1">
                <a:solidFill>
                  <a:srgbClr val="EFF5F1"/>
                </a:solidFill>
                <a:latin typeface="Instrument Sans"/>
              </a:rPr>
              <a:t>карте</a:t>
            </a:r>
            <a:r>
              <a:rPr sz="1200" b="0" i="0" dirty="0">
                <a:solidFill>
                  <a:srgbClr val="EFF5F1"/>
                </a:solidFill>
                <a:latin typeface="Instrument Sans"/>
              </a:rPr>
              <a:t> </a:t>
            </a:r>
            <a:r>
              <a:rPr sz="1200" b="0" i="0" dirty="0" err="1">
                <a:solidFill>
                  <a:srgbClr val="EFF5F1"/>
                </a:solidFill>
                <a:latin typeface="Instrument Sans"/>
              </a:rPr>
              <a:t>маршрута</a:t>
            </a:r>
            <a:r>
              <a:rPr sz="1200" b="0" i="0" dirty="0">
                <a:solidFill>
                  <a:srgbClr val="EFF5F1"/>
                </a:solidFill>
                <a:latin typeface="Instrument Sans"/>
              </a:rPr>
              <a:t> </a:t>
            </a:r>
            <a:r>
              <a:rPr sz="1200" b="0" i="0" dirty="0" err="1">
                <a:solidFill>
                  <a:srgbClr val="EFF5F1"/>
                </a:solidFill>
                <a:latin typeface="Instrument Sans"/>
              </a:rPr>
              <a:t>облёта</a:t>
            </a:r>
            <a:r>
              <a:rPr sz="1200" b="0" i="0" dirty="0">
                <a:solidFill>
                  <a:srgbClr val="EFF5F1"/>
                </a:solidFill>
                <a:latin typeface="Instrument Sans"/>
              </a:rPr>
              <a:t> </a:t>
            </a:r>
            <a:r>
              <a:rPr sz="1200" b="0" i="0" dirty="0" err="1">
                <a:solidFill>
                  <a:srgbClr val="EFF5F1"/>
                </a:solidFill>
                <a:latin typeface="Instrument Sans"/>
              </a:rPr>
              <a:t>прямоугольного</a:t>
            </a:r>
            <a:r>
              <a:rPr sz="1200" b="0" i="0" dirty="0">
                <a:solidFill>
                  <a:srgbClr val="EFF5F1"/>
                </a:solidFill>
                <a:latin typeface="Instrument Sans"/>
              </a:rPr>
              <a:t> </a:t>
            </a:r>
            <a:r>
              <a:rPr sz="1200" b="0" i="0" dirty="0" err="1">
                <a:solidFill>
                  <a:srgbClr val="EFF5F1"/>
                </a:solidFill>
                <a:latin typeface="Instrument Sans"/>
              </a:rPr>
              <a:t>карьера</a:t>
            </a:r>
            <a:r>
              <a:rPr sz="1200" b="0" i="0" dirty="0">
                <a:solidFill>
                  <a:srgbClr val="EFF5F1"/>
                </a:solidFill>
                <a:latin typeface="Instrument Sans"/>
              </a:rPr>
              <a:t> </a:t>
            </a:r>
            <a:r>
              <a:rPr sz="1200" b="0" i="0" dirty="0" err="1">
                <a:solidFill>
                  <a:srgbClr val="EFF5F1"/>
                </a:solidFill>
                <a:latin typeface="Instrument Sans"/>
              </a:rPr>
              <a:t>дроном</a:t>
            </a:r>
            <a:r>
              <a:rPr sz="1200" b="0" i="0" dirty="0">
                <a:solidFill>
                  <a:srgbClr val="EFF5F1"/>
                </a:solidFill>
                <a:latin typeface="Instrument Sans"/>
              </a:rPr>
              <a:t>.</a:t>
            </a:r>
          </a:p>
        </p:txBody>
      </p:sp>
      <p:sp>
        <p:nvSpPr>
          <p:cNvPr id="9" name="TextBox 8"/>
          <p:cNvSpPr txBox="1"/>
          <p:nvPr/>
        </p:nvSpPr>
        <p:spPr>
          <a:xfrm>
            <a:off x="762000" y="3300114"/>
            <a:ext cx="1854844" cy="457200"/>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2947" b="1" i="0">
                <a:solidFill>
                  <a:srgbClr val="EFF5F1"/>
                </a:solidFill>
                <a:latin typeface="Instrument Sans"/>
              </a:defRPr>
            </a:pPr>
            <a:r>
              <a:rPr sz="2947" b="1" i="0" dirty="0">
                <a:solidFill>
                  <a:srgbClr val="EFF5F1"/>
                </a:solidFill>
                <a:latin typeface="Instrument Sans"/>
              </a:rPr>
              <a:t>100×100 м</a:t>
            </a:r>
          </a:p>
        </p:txBody>
      </p:sp>
      <p:sp>
        <p:nvSpPr>
          <p:cNvPr id="10" name="TextBox 9"/>
          <p:cNvSpPr txBox="1"/>
          <p:nvPr/>
        </p:nvSpPr>
        <p:spPr>
          <a:xfrm>
            <a:off x="762000" y="4947939"/>
            <a:ext cx="1854844" cy="457200"/>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2947" b="1" i="0">
                <a:solidFill>
                  <a:srgbClr val="EFF5F1"/>
                </a:solidFill>
                <a:latin typeface="Instrument Sans"/>
              </a:defRPr>
            </a:pPr>
            <a:r>
              <a:rPr sz="2947" b="1" i="0" dirty="0">
                <a:solidFill>
                  <a:srgbClr val="EFF5F1"/>
                </a:solidFill>
                <a:latin typeface="Instrument Sans"/>
              </a:rPr>
              <a:t>12 м/с</a:t>
            </a:r>
          </a:p>
        </p:txBody>
      </p:sp>
      <p:sp>
        <p:nvSpPr>
          <p:cNvPr id="11" name="TextBox 10"/>
          <p:cNvSpPr txBox="1"/>
          <p:nvPr/>
        </p:nvSpPr>
        <p:spPr>
          <a:xfrm>
            <a:off x="3505200" y="3300114"/>
            <a:ext cx="955327" cy="457200"/>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2947" b="1" i="0">
                <a:solidFill>
                  <a:srgbClr val="EFF5F1"/>
                </a:solidFill>
                <a:latin typeface="Instrument Sans"/>
              </a:defRPr>
            </a:pPr>
            <a:r>
              <a:rPr sz="2947" b="1" i="0">
                <a:solidFill>
                  <a:srgbClr val="EFF5F1"/>
                </a:solidFill>
                <a:latin typeface="Instrument Sans"/>
              </a:rPr>
              <a:t>120 м</a:t>
            </a:r>
          </a:p>
        </p:txBody>
      </p:sp>
      <p:sp>
        <p:nvSpPr>
          <p:cNvPr id="12" name="TextBox 11"/>
          <p:cNvSpPr txBox="1"/>
          <p:nvPr/>
        </p:nvSpPr>
        <p:spPr>
          <a:xfrm>
            <a:off x="3505200" y="4947939"/>
            <a:ext cx="767804" cy="457200"/>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2947" b="1" i="0">
                <a:solidFill>
                  <a:srgbClr val="EFF5F1"/>
                </a:solidFill>
                <a:latin typeface="Instrument Sans"/>
              </a:defRPr>
            </a:pPr>
            <a:r>
              <a:rPr sz="2947" b="1" i="0">
                <a:solidFill>
                  <a:srgbClr val="EFF5F1"/>
                </a:solidFill>
                <a:latin typeface="Instrument Sans"/>
              </a:rPr>
              <a:t>70%</a:t>
            </a:r>
          </a:p>
        </p:txBody>
      </p:sp>
      <p:sp>
        <p:nvSpPr>
          <p:cNvPr id="13" name="TextBox 12"/>
          <p:cNvSpPr txBox="1"/>
          <p:nvPr/>
        </p:nvSpPr>
        <p:spPr>
          <a:xfrm>
            <a:off x="762000" y="2920007"/>
            <a:ext cx="1106239" cy="200025"/>
          </a:xfrm>
          <a:prstGeom prst="rect">
            <a:avLst/>
          </a:prstGeom>
          <a:noFill/>
          <a:ln>
            <a:noFill/>
          </a:ln>
          <a:effectLst>
            <a:outerShdw>
              <a:srgbClr val="000000">
                <a:alpha val="0"/>
              </a:srgbClr>
            </a:outerShdw>
          </a:effectLst>
        </p:spPr>
        <p:txBody>
          <a:bodyPr wrap="square" lIns="0" tIns="0" rIns="0" bIns="0">
            <a:spAutoFit/>
          </a:bodyPr>
          <a:lstStyle/>
          <a:p>
            <a:pPr>
              <a:lnSpc>
                <a:spcPct val="112000"/>
              </a:lnSpc>
              <a:defRPr sz="1335" b="0" i="0">
                <a:solidFill>
                  <a:srgbClr val="EFF5F1"/>
                </a:solidFill>
                <a:latin typeface="Instrument Sans"/>
              </a:defRPr>
            </a:pPr>
            <a:r>
              <a:rPr sz="1335" b="0" i="0">
                <a:solidFill>
                  <a:srgbClr val="EFF5F1"/>
                </a:solidFill>
                <a:latin typeface="Instrument Sans"/>
              </a:rPr>
              <a:t>Размер карьера</a:t>
            </a:r>
          </a:p>
        </p:txBody>
      </p:sp>
      <p:sp>
        <p:nvSpPr>
          <p:cNvPr id="14" name="TextBox 13"/>
          <p:cNvSpPr txBox="1"/>
          <p:nvPr/>
        </p:nvSpPr>
        <p:spPr>
          <a:xfrm>
            <a:off x="3505200" y="2920007"/>
            <a:ext cx="1073199" cy="200025"/>
          </a:xfrm>
          <a:prstGeom prst="rect">
            <a:avLst/>
          </a:prstGeom>
          <a:noFill/>
          <a:ln>
            <a:noFill/>
          </a:ln>
          <a:effectLst>
            <a:outerShdw>
              <a:srgbClr val="000000">
                <a:alpha val="0"/>
              </a:srgbClr>
            </a:outerShdw>
          </a:effectLst>
        </p:spPr>
        <p:txBody>
          <a:bodyPr wrap="square" lIns="0" tIns="0" rIns="0" bIns="0">
            <a:spAutoFit/>
          </a:bodyPr>
          <a:lstStyle/>
          <a:p>
            <a:pPr>
              <a:lnSpc>
                <a:spcPct val="112000"/>
              </a:lnSpc>
              <a:defRPr sz="1335" b="0" i="0">
                <a:solidFill>
                  <a:srgbClr val="EFF5F1"/>
                </a:solidFill>
                <a:latin typeface="Instrument Sans"/>
              </a:defRPr>
            </a:pPr>
            <a:r>
              <a:rPr sz="1335" b="0" i="0">
                <a:solidFill>
                  <a:srgbClr val="EFF5F1"/>
                </a:solidFill>
                <a:latin typeface="Instrument Sans"/>
              </a:rPr>
              <a:t>Высота полёта</a:t>
            </a:r>
          </a:p>
        </p:txBody>
      </p:sp>
      <p:sp>
        <p:nvSpPr>
          <p:cNvPr id="15" name="TextBox 14"/>
          <p:cNvSpPr txBox="1"/>
          <p:nvPr/>
        </p:nvSpPr>
        <p:spPr>
          <a:xfrm>
            <a:off x="3505200" y="4567832"/>
            <a:ext cx="897433" cy="200025"/>
          </a:xfrm>
          <a:prstGeom prst="rect">
            <a:avLst/>
          </a:prstGeom>
          <a:noFill/>
          <a:ln>
            <a:noFill/>
          </a:ln>
          <a:effectLst>
            <a:outerShdw>
              <a:srgbClr val="000000">
                <a:alpha val="0"/>
              </a:srgbClr>
            </a:outerShdw>
          </a:effectLst>
        </p:spPr>
        <p:txBody>
          <a:bodyPr wrap="square" lIns="0" tIns="0" rIns="0" bIns="0">
            <a:spAutoFit/>
          </a:bodyPr>
          <a:lstStyle/>
          <a:p>
            <a:pPr>
              <a:lnSpc>
                <a:spcPct val="112000"/>
              </a:lnSpc>
              <a:defRPr sz="1335" b="0" i="0">
                <a:solidFill>
                  <a:srgbClr val="EFF5F1"/>
                </a:solidFill>
                <a:latin typeface="Instrument Sans"/>
              </a:defRPr>
            </a:pPr>
            <a:r>
              <a:rPr sz="1335" b="0" i="0">
                <a:solidFill>
                  <a:srgbClr val="EFF5F1"/>
                </a:solidFill>
                <a:latin typeface="Instrument Sans"/>
              </a:rPr>
              <a:t>Перекрытие</a:t>
            </a:r>
          </a:p>
        </p:txBody>
      </p:sp>
      <p:sp>
        <p:nvSpPr>
          <p:cNvPr id="16" name="TextBox 15"/>
          <p:cNvSpPr txBox="1"/>
          <p:nvPr/>
        </p:nvSpPr>
        <p:spPr>
          <a:xfrm>
            <a:off x="762000" y="4567832"/>
            <a:ext cx="690860" cy="200025"/>
          </a:xfrm>
          <a:prstGeom prst="rect">
            <a:avLst/>
          </a:prstGeom>
          <a:noFill/>
          <a:ln>
            <a:noFill/>
          </a:ln>
          <a:effectLst>
            <a:outerShdw>
              <a:srgbClr val="000000">
                <a:alpha val="0"/>
              </a:srgbClr>
            </a:outerShdw>
          </a:effectLst>
        </p:spPr>
        <p:txBody>
          <a:bodyPr wrap="square" lIns="0" tIns="0" rIns="0" bIns="0">
            <a:spAutoFit/>
          </a:bodyPr>
          <a:lstStyle/>
          <a:p>
            <a:pPr>
              <a:lnSpc>
                <a:spcPct val="112000"/>
              </a:lnSpc>
              <a:defRPr sz="1335" b="0" i="0">
                <a:solidFill>
                  <a:srgbClr val="EFF5F1"/>
                </a:solidFill>
                <a:latin typeface="Instrument Sans"/>
              </a:defRPr>
            </a:pPr>
            <a:r>
              <a:rPr sz="1335" b="0" i="0">
                <a:solidFill>
                  <a:srgbClr val="EFF5F1"/>
                </a:solidFill>
                <a:latin typeface="Instrument Sans"/>
              </a:rPr>
              <a:t>Скорость</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ounded Rectangle 1"/>
          <p:cNvSpPr/>
          <p:nvPr/>
        </p:nvSpPr>
        <p:spPr>
          <a:xfrm>
            <a:off x="1033462" y="1444215"/>
            <a:ext cx="4888706" cy="5263778"/>
          </a:xfrm>
          <a:prstGeom prst="roundRect">
            <a:avLst>
              <a:gd name="adj" fmla="val 935"/>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400050" tIns="400050" rIns="400050" bIns="400050" rtlCol="0" anchor="ctr"/>
          <a:lstStyle/>
          <a:p>
            <a:pPr algn="ctr"/>
            <a:endParaRPr/>
          </a:p>
        </p:txBody>
      </p:sp>
      <p:pic>
        <p:nvPicPr>
          <p:cNvPr id="12" name="Рисунок 11">
            <a:extLst>
              <a:ext uri="{FF2B5EF4-FFF2-40B4-BE49-F238E27FC236}">
                <a16:creationId xmlns:a16="http://schemas.microsoft.com/office/drawing/2014/main" id="{401315D8-0746-EDD5-C047-0E2B7169872F}"/>
              </a:ext>
            </a:extLst>
          </p:cNvPr>
          <p:cNvPicPr>
            <a:picLocks noChangeAspect="1"/>
          </p:cNvPicPr>
          <p:nvPr/>
        </p:nvPicPr>
        <p:blipFill>
          <a:blip r:embed="rId3"/>
          <a:stretch>
            <a:fillRect/>
          </a:stretch>
        </p:blipFill>
        <p:spPr>
          <a:xfrm>
            <a:off x="2173739" y="3809924"/>
            <a:ext cx="2605638" cy="2653520"/>
          </a:xfrm>
          <a:prstGeom prst="rect">
            <a:avLst/>
          </a:prstGeom>
          <a:effectLst>
            <a:softEdge rad="25400"/>
          </a:effectLst>
        </p:spPr>
      </p:pic>
      <p:sp>
        <p:nvSpPr>
          <p:cNvPr id="3" name="Rounded Rectangle 2"/>
          <p:cNvSpPr/>
          <p:nvPr/>
        </p:nvSpPr>
        <p:spPr>
          <a:xfrm>
            <a:off x="6269831" y="1444215"/>
            <a:ext cx="4888706" cy="5263778"/>
          </a:xfrm>
          <a:prstGeom prst="roundRect">
            <a:avLst>
              <a:gd name="adj" fmla="val 935"/>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400050" tIns="400050" rIns="400050" bIns="400050" rtlCol="0" anchor="ctr"/>
          <a:lstStyle/>
          <a:p>
            <a:pPr algn="ctr"/>
            <a:endParaRPr/>
          </a:p>
        </p:txBody>
      </p:sp>
      <p:sp>
        <p:nvSpPr>
          <p:cNvPr id="4" name="TextBox 3"/>
          <p:cNvSpPr txBox="1"/>
          <p:nvPr/>
        </p:nvSpPr>
        <p:spPr>
          <a:xfrm>
            <a:off x="1428750" y="2558640"/>
            <a:ext cx="4037260" cy="1122908"/>
          </a:xfrm>
          <a:prstGeom prst="rect">
            <a:avLst/>
          </a:prstGeom>
          <a:noFill/>
          <a:ln>
            <a:noFill/>
          </a:ln>
          <a:effectLst>
            <a:outerShdw>
              <a:srgbClr val="000000">
                <a:alpha val="0"/>
              </a:srgbClr>
            </a:outerShdw>
          </a:effectLst>
        </p:spPr>
        <p:txBody>
          <a:bodyPr wrap="square" lIns="0" tIns="0" rIns="0" bIns="0">
            <a:spAutoFit/>
          </a:bodyPr>
          <a:lstStyle/>
          <a:p>
            <a:pPr>
              <a:lnSpc>
                <a:spcPct val="128410"/>
              </a:lnSpc>
              <a:defRPr sz="1462" b="0" i="0">
                <a:solidFill>
                  <a:srgbClr val="EFF5F1"/>
                </a:solidFill>
                <a:latin typeface="Instrument Sans"/>
              </a:defRPr>
            </a:pPr>
            <a:r>
              <a:rPr sz="1462" b="1" i="0" dirty="0" err="1">
                <a:solidFill>
                  <a:srgbClr val="EFF5F1"/>
                </a:solidFill>
                <a:latin typeface="Instrument Sans"/>
              </a:rPr>
              <a:t>Меньше</a:t>
            </a:r>
            <a:r>
              <a:rPr sz="1462" b="1" i="0" dirty="0">
                <a:solidFill>
                  <a:srgbClr val="EFF5F1"/>
                </a:solidFill>
                <a:latin typeface="Instrument Sans"/>
              </a:rPr>
              <a:t> </a:t>
            </a:r>
            <a:r>
              <a:rPr sz="1462" b="1" i="0" dirty="0" err="1">
                <a:solidFill>
                  <a:srgbClr val="EFF5F1"/>
                </a:solidFill>
                <a:latin typeface="Instrument Sans"/>
              </a:rPr>
              <a:t>точек</a:t>
            </a:r>
            <a:r>
              <a:rPr sz="1462" b="1" i="0" dirty="0">
                <a:solidFill>
                  <a:srgbClr val="EFF5F1"/>
                </a:solidFill>
                <a:latin typeface="Instrument Sans"/>
              </a:rPr>
              <a:t> </a:t>
            </a:r>
            <a:r>
              <a:rPr sz="1462" b="1" i="0" dirty="0" err="1">
                <a:solidFill>
                  <a:srgbClr val="EFF5F1"/>
                </a:solidFill>
                <a:latin typeface="Instrument Sans"/>
              </a:rPr>
              <a:t>съёмки</a:t>
            </a:r>
            <a:r>
              <a:rPr sz="1462" b="0" i="0" dirty="0">
                <a:solidFill>
                  <a:srgbClr val="EFF5F1"/>
                </a:solidFill>
                <a:latin typeface="Instrument Sans"/>
              </a:rPr>
              <a:t> и </a:t>
            </a:r>
            <a:r>
              <a:rPr sz="1462" b="0" i="0" dirty="0" err="1">
                <a:solidFill>
                  <a:srgbClr val="EFF5F1"/>
                </a:solidFill>
                <a:latin typeface="Instrument Sans"/>
              </a:rPr>
              <a:t>короче</a:t>
            </a:r>
            <a:r>
              <a:rPr sz="1462" b="0" i="0" dirty="0">
                <a:solidFill>
                  <a:srgbClr val="EFF5F1"/>
                </a:solidFill>
                <a:latin typeface="Instrument Sans"/>
              </a:rPr>
              <a:t> </a:t>
            </a:r>
            <a:r>
              <a:rPr sz="1462" b="0" i="0" dirty="0" err="1">
                <a:solidFill>
                  <a:srgbClr val="EFF5F1"/>
                </a:solidFill>
                <a:latin typeface="Instrument Sans"/>
              </a:rPr>
              <a:t>маршрут</a:t>
            </a:r>
            <a:r>
              <a:rPr sz="1462" b="0" i="0" dirty="0">
                <a:solidFill>
                  <a:srgbClr val="EFF5F1"/>
                </a:solidFill>
                <a:latin typeface="Instrument Sans"/>
              </a:rPr>
              <a:t>. </a:t>
            </a:r>
            <a:r>
              <a:rPr sz="1462" b="0" i="0" dirty="0" err="1">
                <a:solidFill>
                  <a:srgbClr val="EFF5F1"/>
                </a:solidFill>
                <a:latin typeface="Instrument Sans"/>
              </a:rPr>
              <a:t>Снижается</a:t>
            </a:r>
            <a:r>
              <a:rPr sz="1462" b="0" i="0" dirty="0">
                <a:solidFill>
                  <a:srgbClr val="EFF5F1"/>
                </a:solidFill>
                <a:latin typeface="Instrument Sans"/>
              </a:rPr>
              <a:t> </a:t>
            </a:r>
            <a:r>
              <a:rPr sz="1462" b="0" i="0" dirty="0" err="1">
                <a:solidFill>
                  <a:srgbClr val="EFF5F1"/>
                </a:solidFill>
                <a:latin typeface="Instrument Sans"/>
              </a:rPr>
              <a:t>расход</a:t>
            </a:r>
            <a:r>
              <a:rPr sz="1462" b="0" i="0" dirty="0">
                <a:solidFill>
                  <a:srgbClr val="EFF5F1"/>
                </a:solidFill>
                <a:latin typeface="Instrument Sans"/>
              </a:rPr>
              <a:t> </a:t>
            </a:r>
            <a:r>
              <a:rPr sz="1462" b="0" i="0" dirty="0" err="1">
                <a:solidFill>
                  <a:srgbClr val="EFF5F1"/>
                </a:solidFill>
                <a:latin typeface="Instrument Sans"/>
              </a:rPr>
              <a:t>батареи</a:t>
            </a:r>
            <a:r>
              <a:rPr sz="1462" b="0" i="0" dirty="0">
                <a:solidFill>
                  <a:srgbClr val="EFF5F1"/>
                </a:solidFill>
                <a:latin typeface="Instrument Sans"/>
              </a:rPr>
              <a:t>, </a:t>
            </a:r>
            <a:r>
              <a:rPr sz="1462" b="0" i="0" dirty="0" err="1">
                <a:solidFill>
                  <a:srgbClr val="EFF5F1"/>
                </a:solidFill>
                <a:latin typeface="Instrument Sans"/>
              </a:rPr>
              <a:t>ускоряется</a:t>
            </a:r>
            <a:r>
              <a:rPr sz="1462" b="0" i="0" dirty="0">
                <a:solidFill>
                  <a:srgbClr val="EFF5F1"/>
                </a:solidFill>
                <a:latin typeface="Instrument Sans"/>
              </a:rPr>
              <a:t> </a:t>
            </a:r>
            <a:r>
              <a:rPr sz="1462" b="0" i="0" dirty="0" err="1">
                <a:solidFill>
                  <a:srgbClr val="EFF5F1"/>
                </a:solidFill>
                <a:latin typeface="Instrument Sans"/>
              </a:rPr>
              <a:t>выполнение</a:t>
            </a:r>
            <a:r>
              <a:rPr sz="1462" b="0" i="0" dirty="0">
                <a:solidFill>
                  <a:srgbClr val="EFF5F1"/>
                </a:solidFill>
                <a:latin typeface="Instrument Sans"/>
              </a:rPr>
              <a:t> </a:t>
            </a:r>
            <a:r>
              <a:rPr sz="1462" b="0" i="0" dirty="0" err="1">
                <a:solidFill>
                  <a:srgbClr val="EFF5F1"/>
                </a:solidFill>
                <a:latin typeface="Instrument Sans"/>
              </a:rPr>
              <a:t>полётного</a:t>
            </a:r>
            <a:r>
              <a:rPr sz="1462" b="0" i="0" dirty="0">
                <a:solidFill>
                  <a:srgbClr val="EFF5F1"/>
                </a:solidFill>
                <a:latin typeface="Instrument Sans"/>
              </a:rPr>
              <a:t> </a:t>
            </a:r>
            <a:r>
              <a:rPr sz="1462" b="0" i="0" dirty="0" err="1">
                <a:solidFill>
                  <a:srgbClr val="EFF5F1"/>
                </a:solidFill>
                <a:latin typeface="Instrument Sans"/>
              </a:rPr>
              <a:t>задания</a:t>
            </a:r>
            <a:r>
              <a:rPr sz="1462" b="0" i="0" dirty="0">
                <a:solidFill>
                  <a:srgbClr val="EFF5F1"/>
                </a:solidFill>
                <a:latin typeface="Instrument Sans"/>
              </a:rPr>
              <a:t>. </a:t>
            </a:r>
            <a:r>
              <a:rPr sz="1462" b="0" i="0" dirty="0" err="1">
                <a:solidFill>
                  <a:srgbClr val="EFF5F1"/>
                </a:solidFill>
                <a:latin typeface="Instrument Sans"/>
              </a:rPr>
              <a:t>Подходит</a:t>
            </a:r>
            <a:r>
              <a:rPr sz="1462" b="0" i="0" dirty="0">
                <a:solidFill>
                  <a:srgbClr val="EFF5F1"/>
                </a:solidFill>
                <a:latin typeface="Instrument Sans"/>
              </a:rPr>
              <a:t> </a:t>
            </a:r>
            <a:r>
              <a:rPr sz="1462" b="0" i="0" dirty="0" err="1">
                <a:solidFill>
                  <a:srgbClr val="EFF5F1"/>
                </a:solidFill>
                <a:latin typeface="Instrument Sans"/>
              </a:rPr>
              <a:t>для</a:t>
            </a:r>
            <a:r>
              <a:rPr sz="1462" b="0" i="0" dirty="0">
                <a:solidFill>
                  <a:srgbClr val="EFF5F1"/>
                </a:solidFill>
                <a:latin typeface="Instrument Sans"/>
              </a:rPr>
              <a:t> </a:t>
            </a:r>
            <a:r>
              <a:rPr sz="1462" b="0" i="0" dirty="0" err="1">
                <a:solidFill>
                  <a:srgbClr val="EFF5F1"/>
                </a:solidFill>
                <a:latin typeface="Instrument Sans"/>
              </a:rPr>
              <a:t>оперативной</a:t>
            </a:r>
            <a:r>
              <a:rPr sz="1462" b="0" i="0" dirty="0">
                <a:solidFill>
                  <a:srgbClr val="EFF5F1"/>
                </a:solidFill>
                <a:latin typeface="Instrument Sans"/>
              </a:rPr>
              <a:t> </a:t>
            </a:r>
            <a:r>
              <a:rPr sz="1462" b="0" i="0" dirty="0" err="1">
                <a:solidFill>
                  <a:srgbClr val="EFF5F1"/>
                </a:solidFill>
                <a:latin typeface="Instrument Sans"/>
              </a:rPr>
              <a:t>съёмки</a:t>
            </a:r>
            <a:r>
              <a:rPr sz="1462" b="0" i="0" dirty="0">
                <a:solidFill>
                  <a:srgbClr val="EFF5F1"/>
                </a:solidFill>
                <a:latin typeface="Instrument Sans"/>
              </a:rPr>
              <a:t> </a:t>
            </a:r>
            <a:r>
              <a:rPr sz="1462" b="0" i="0" dirty="0" err="1">
                <a:solidFill>
                  <a:srgbClr val="EFF5F1"/>
                </a:solidFill>
                <a:latin typeface="Instrument Sans"/>
              </a:rPr>
              <a:t>больших</a:t>
            </a:r>
            <a:r>
              <a:rPr sz="1462" b="0" i="0" dirty="0">
                <a:solidFill>
                  <a:srgbClr val="EFF5F1"/>
                </a:solidFill>
                <a:latin typeface="Instrument Sans"/>
              </a:rPr>
              <a:t> </a:t>
            </a:r>
            <a:r>
              <a:rPr sz="1462" b="0" i="0" dirty="0" err="1">
                <a:solidFill>
                  <a:srgbClr val="EFF5F1"/>
                </a:solidFill>
                <a:latin typeface="Instrument Sans"/>
              </a:rPr>
              <a:t>территорий</a:t>
            </a:r>
            <a:r>
              <a:rPr sz="1462" b="0" i="0" dirty="0">
                <a:solidFill>
                  <a:srgbClr val="EFF5F1"/>
                </a:solidFill>
                <a:latin typeface="Instrument Sans"/>
              </a:rPr>
              <a:t>.</a:t>
            </a:r>
          </a:p>
        </p:txBody>
      </p:sp>
      <p:sp>
        <p:nvSpPr>
          <p:cNvPr id="5" name="TextBox 4"/>
          <p:cNvSpPr txBox="1"/>
          <p:nvPr/>
        </p:nvSpPr>
        <p:spPr>
          <a:xfrm>
            <a:off x="6665118" y="2558640"/>
            <a:ext cx="4026842" cy="1122908"/>
          </a:xfrm>
          <a:prstGeom prst="rect">
            <a:avLst/>
          </a:prstGeom>
          <a:noFill/>
          <a:ln>
            <a:noFill/>
          </a:ln>
          <a:effectLst>
            <a:outerShdw>
              <a:srgbClr val="000000">
                <a:alpha val="0"/>
              </a:srgbClr>
            </a:outerShdw>
          </a:effectLst>
        </p:spPr>
        <p:txBody>
          <a:bodyPr wrap="square" lIns="0" tIns="0" rIns="0" bIns="0">
            <a:spAutoFit/>
          </a:bodyPr>
          <a:lstStyle/>
          <a:p>
            <a:pPr>
              <a:lnSpc>
                <a:spcPct val="128410"/>
              </a:lnSpc>
              <a:defRPr sz="1462" b="0" i="0">
                <a:solidFill>
                  <a:srgbClr val="EFF5F1"/>
                </a:solidFill>
                <a:latin typeface="Instrument Sans"/>
              </a:defRPr>
            </a:pPr>
            <a:r>
              <a:rPr sz="1462" b="1" i="0">
                <a:solidFill>
                  <a:srgbClr val="EFF5F1"/>
                </a:solidFill>
                <a:latin typeface="Instrument Sans"/>
              </a:rPr>
              <a:t>Больше точек съёмки</a:t>
            </a:r>
            <a:r>
              <a:rPr sz="1462" b="0" i="0">
                <a:solidFill>
                  <a:srgbClr val="EFF5F1"/>
                </a:solidFill>
                <a:latin typeface="Instrument Sans"/>
              </a:rPr>
              <a:t> (20 точек на тестовом карьере), длиннее маршрут и выше расход батареи. Обеспечивает </a:t>
            </a:r>
            <a:r>
              <a:rPr sz="1462" b="0" i="1">
                <a:solidFill>
                  <a:srgbClr val="EFF5F1"/>
                </a:solidFill>
                <a:latin typeface="Instrument Sans"/>
              </a:rPr>
              <a:t>значительно более высокое качество</a:t>
            </a:r>
            <a:r>
              <a:rPr sz="1462" b="0" i="0">
                <a:solidFill>
                  <a:srgbClr val="EFF5F1"/>
                </a:solidFill>
                <a:latin typeface="Instrument Sans"/>
              </a:rPr>
              <a:t> итоговой 3D-модели.</a:t>
            </a:r>
          </a:p>
        </p:txBody>
      </p:sp>
      <p:sp>
        <p:nvSpPr>
          <p:cNvPr id="6" name="TextBox 5"/>
          <p:cNvSpPr txBox="1"/>
          <p:nvPr/>
        </p:nvSpPr>
        <p:spPr>
          <a:xfrm>
            <a:off x="2677715" y="714375"/>
            <a:ext cx="6855618" cy="495300"/>
          </a:xfrm>
          <a:prstGeom prst="rect">
            <a:avLst/>
          </a:prstGeom>
          <a:noFill/>
          <a:ln>
            <a:noFill/>
          </a:ln>
          <a:effectLst>
            <a:outerShdw>
              <a:srgbClr val="000000">
                <a:alpha val="0"/>
              </a:srgbClr>
            </a:outerShdw>
          </a:effectLst>
        </p:spPr>
        <p:txBody>
          <a:bodyPr wrap="square" lIns="0" tIns="0" rIns="0" bIns="0">
            <a:spAutoFit/>
          </a:bodyPr>
          <a:lstStyle/>
          <a:p>
            <a:pPr>
              <a:lnSpc>
                <a:spcPct val="120000"/>
              </a:lnSpc>
              <a:defRPr sz="3202" b="1" i="0">
                <a:solidFill>
                  <a:srgbClr val="EFF5F1"/>
                </a:solidFill>
                <a:latin typeface="Montserrat"/>
              </a:defRPr>
            </a:pPr>
            <a:r>
              <a:rPr sz="3202" b="1" i="0">
                <a:solidFill>
                  <a:srgbClr val="EFF5F1"/>
                </a:solidFill>
                <a:latin typeface="Montserrat"/>
              </a:rPr>
              <a:t>Влияние перекрытия снимков</a:t>
            </a:r>
          </a:p>
        </p:txBody>
      </p:sp>
      <p:sp>
        <p:nvSpPr>
          <p:cNvPr id="7" name="TextBox 6"/>
          <p:cNvSpPr txBox="1"/>
          <p:nvPr/>
        </p:nvSpPr>
        <p:spPr>
          <a:xfrm>
            <a:off x="1428750" y="1877602"/>
            <a:ext cx="2405360" cy="362343"/>
          </a:xfrm>
          <a:prstGeom prst="rect">
            <a:avLst/>
          </a:prstGeom>
          <a:noFill/>
          <a:ln>
            <a:noFill/>
          </a:ln>
          <a:effectLst>
            <a:outerShdw>
              <a:srgbClr val="000000">
                <a:alpha val="0"/>
              </a:srgbClr>
            </a:outerShdw>
          </a:effectLst>
        </p:spPr>
        <p:txBody>
          <a:bodyPr wrap="square" lIns="0" tIns="0" rIns="0" bIns="0">
            <a:spAutoFit/>
          </a:bodyPr>
          <a:lstStyle/>
          <a:p>
            <a:pPr>
              <a:lnSpc>
                <a:spcPct val="120000"/>
              </a:lnSpc>
              <a:defRPr sz="2129" b="1" i="0" spc="-75">
                <a:solidFill>
                  <a:srgbClr val="EFF5F1"/>
                </a:solidFill>
                <a:latin typeface="Montserrat"/>
              </a:defRPr>
            </a:pPr>
            <a:r>
              <a:rPr sz="2129" b="1" i="0" dirty="0" err="1">
                <a:solidFill>
                  <a:srgbClr val="EFF5F1"/>
                </a:solidFill>
                <a:latin typeface="Montserrat"/>
              </a:rPr>
              <a:t>Перекрытие</a:t>
            </a:r>
            <a:r>
              <a:rPr sz="2129" b="1" i="0" dirty="0">
                <a:solidFill>
                  <a:srgbClr val="EFF5F1"/>
                </a:solidFill>
                <a:latin typeface="Montserrat"/>
              </a:rPr>
              <a:t> 70%</a:t>
            </a:r>
          </a:p>
        </p:txBody>
      </p:sp>
      <p:sp>
        <p:nvSpPr>
          <p:cNvPr id="8" name="TextBox 7"/>
          <p:cNvSpPr txBox="1"/>
          <p:nvPr/>
        </p:nvSpPr>
        <p:spPr>
          <a:xfrm>
            <a:off x="6665118" y="1877602"/>
            <a:ext cx="2396132" cy="323850"/>
          </a:xfrm>
          <a:prstGeom prst="rect">
            <a:avLst/>
          </a:prstGeom>
          <a:noFill/>
          <a:ln>
            <a:noFill/>
          </a:ln>
          <a:effectLst>
            <a:outerShdw>
              <a:srgbClr val="000000">
                <a:alpha val="0"/>
              </a:srgbClr>
            </a:outerShdw>
          </a:effectLst>
        </p:spPr>
        <p:txBody>
          <a:bodyPr wrap="square" lIns="0" tIns="0" rIns="0" bIns="0">
            <a:spAutoFit/>
          </a:bodyPr>
          <a:lstStyle/>
          <a:p>
            <a:pPr>
              <a:lnSpc>
                <a:spcPct val="120000"/>
              </a:lnSpc>
              <a:defRPr sz="2129" b="1" i="0" spc="-75">
                <a:solidFill>
                  <a:srgbClr val="EFF5F1"/>
                </a:solidFill>
                <a:latin typeface="Montserrat"/>
              </a:defRPr>
            </a:pPr>
            <a:r>
              <a:rPr sz="2129" b="1" i="0">
                <a:solidFill>
                  <a:srgbClr val="EFF5F1"/>
                </a:solidFill>
                <a:latin typeface="Montserrat"/>
              </a:rPr>
              <a:t>Перекрытие 85%</a:t>
            </a:r>
          </a:p>
        </p:txBody>
      </p:sp>
      <p:sp>
        <p:nvSpPr>
          <p:cNvPr id="9" name="Rounded Rectangle 8"/>
          <p:cNvSpPr/>
          <p:nvPr/>
        </p:nvSpPr>
        <p:spPr>
          <a:xfrm>
            <a:off x="1428750" y="2302507"/>
            <a:ext cx="1110555" cy="37058"/>
          </a:xfrm>
          <a:prstGeom prst="roundRect">
            <a:avLst>
              <a:gd name="adj" fmla="val 50000"/>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Rounded Rectangle 9"/>
          <p:cNvSpPr/>
          <p:nvPr/>
        </p:nvSpPr>
        <p:spPr>
          <a:xfrm>
            <a:off x="6665118" y="2302507"/>
            <a:ext cx="1110555" cy="37058"/>
          </a:xfrm>
          <a:prstGeom prst="roundRect">
            <a:avLst>
              <a:gd name="adj" fmla="val 50000"/>
            </a:avLst>
          </a:prstGeom>
          <a:solidFill>
            <a:srgbClr val="EFF5F1"/>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13" name="Рисунок 12">
            <a:extLst>
              <a:ext uri="{FF2B5EF4-FFF2-40B4-BE49-F238E27FC236}">
                <a16:creationId xmlns:a16="http://schemas.microsoft.com/office/drawing/2014/main" id="{5B196035-CFAE-3816-6C01-57870267609F}"/>
              </a:ext>
            </a:extLst>
          </p:cNvPr>
          <p:cNvPicPr>
            <a:picLocks noChangeAspect="1"/>
          </p:cNvPicPr>
          <p:nvPr/>
        </p:nvPicPr>
        <p:blipFill>
          <a:blip r:embed="rId4"/>
          <a:srcRect/>
          <a:stretch/>
        </p:blipFill>
        <p:spPr>
          <a:xfrm>
            <a:off x="7412624" y="3809924"/>
            <a:ext cx="2605636" cy="2653520"/>
          </a:xfrm>
          <a:prstGeom prst="rect">
            <a:avLst/>
          </a:prstGeom>
          <a:effectLst>
            <a:softEdge rad="2540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TextBox 1"/>
          <p:cNvSpPr txBox="1"/>
          <p:nvPr/>
        </p:nvSpPr>
        <p:spPr>
          <a:xfrm>
            <a:off x="1095375" y="3156942"/>
            <a:ext cx="4540746" cy="1294906"/>
          </a:xfrm>
          <a:prstGeom prst="rect">
            <a:avLst/>
          </a:prstGeom>
          <a:noFill/>
          <a:ln>
            <a:noFill/>
          </a:ln>
          <a:effectLst>
            <a:outerShdw>
              <a:srgbClr val="000000">
                <a:alpha val="0"/>
              </a:srgbClr>
            </a:outerShdw>
          </a:effectLst>
        </p:spPr>
        <p:txBody>
          <a:bodyPr wrap="square" lIns="0" tIns="0" rIns="0" bIns="0">
            <a:spAutoFit/>
          </a:bodyPr>
          <a:lstStyle/>
          <a:p>
            <a:pPr>
              <a:lnSpc>
                <a:spcPct val="142500"/>
              </a:lnSpc>
              <a:defRPr sz="1200" b="0" i="0">
                <a:solidFill>
                  <a:srgbClr val="EFF5F1"/>
                </a:solidFill>
                <a:latin typeface="Instrument Sans"/>
              </a:defRPr>
            </a:pPr>
            <a:r>
              <a:rPr dirty="0"/>
              <a:t> </a:t>
            </a:r>
            <a:r>
              <a:rPr sz="1200" b="1" i="0" dirty="0">
                <a:solidFill>
                  <a:srgbClr val="EFF5F1"/>
                </a:solidFill>
                <a:latin typeface="Instrument Sans"/>
              </a:rPr>
              <a:t>Swagger UI</a:t>
            </a:r>
            <a:r>
              <a:rPr dirty="0"/>
              <a:t> — </a:t>
            </a:r>
            <a:r>
              <a:rPr dirty="0" err="1"/>
              <a:t>автоматическая</a:t>
            </a:r>
            <a:r>
              <a:rPr dirty="0"/>
              <a:t> </a:t>
            </a:r>
            <a:r>
              <a:rPr dirty="0" err="1"/>
              <a:t>документация</a:t>
            </a:r>
            <a:r>
              <a:rPr dirty="0"/>
              <a:t> API, </a:t>
            </a:r>
            <a:r>
              <a:rPr dirty="0" err="1"/>
              <a:t>доступная</a:t>
            </a:r>
            <a:r>
              <a:rPr dirty="0"/>
              <a:t> </a:t>
            </a:r>
            <a:r>
              <a:rPr dirty="0" err="1"/>
              <a:t>по</a:t>
            </a:r>
            <a:r>
              <a:rPr dirty="0"/>
              <a:t> </a:t>
            </a:r>
            <a:r>
              <a:rPr dirty="0" err="1"/>
              <a:t>адресу</a:t>
            </a:r>
            <a:r>
              <a:rPr dirty="0"/>
              <a:t> http://127.0.0.1:8000/docs. </a:t>
            </a:r>
            <a:r>
              <a:rPr dirty="0" err="1"/>
              <a:t>Демонстрируются</a:t>
            </a:r>
            <a:r>
              <a:rPr dirty="0"/>
              <a:t>: </a:t>
            </a:r>
            <a:r>
              <a:rPr dirty="0" err="1"/>
              <a:t>форма</a:t>
            </a:r>
            <a:r>
              <a:rPr dirty="0"/>
              <a:t> </a:t>
            </a:r>
            <a:r>
              <a:rPr dirty="0" err="1"/>
              <a:t>запроса</a:t>
            </a:r>
            <a:r>
              <a:rPr dirty="0"/>
              <a:t> </a:t>
            </a:r>
            <a:r>
              <a:rPr dirty="0" err="1"/>
              <a:t>на</a:t>
            </a:r>
            <a:r>
              <a:rPr dirty="0"/>
              <a:t> </a:t>
            </a:r>
            <a:r>
              <a:rPr dirty="0" err="1"/>
              <a:t>генерацию</a:t>
            </a:r>
            <a:r>
              <a:rPr dirty="0"/>
              <a:t> </a:t>
            </a:r>
            <a:r>
              <a:rPr dirty="0" err="1"/>
              <a:t>миссии</a:t>
            </a:r>
            <a:r>
              <a:rPr dirty="0"/>
              <a:t>, JSON-</a:t>
            </a:r>
            <a:r>
              <a:rPr dirty="0" err="1"/>
              <a:t>ответ</a:t>
            </a:r>
            <a:r>
              <a:rPr dirty="0"/>
              <a:t> с </a:t>
            </a:r>
            <a:r>
              <a:rPr dirty="0" err="1"/>
              <a:t>маршрутом</a:t>
            </a:r>
            <a:r>
              <a:rPr dirty="0"/>
              <a:t>, </a:t>
            </a:r>
            <a:r>
              <a:rPr dirty="0" err="1"/>
              <a:t>временем</a:t>
            </a:r>
            <a:r>
              <a:rPr dirty="0"/>
              <a:t> </a:t>
            </a:r>
            <a:r>
              <a:rPr dirty="0" err="1"/>
              <a:t>полёта</a:t>
            </a:r>
            <a:r>
              <a:rPr dirty="0"/>
              <a:t>, </a:t>
            </a:r>
            <a:r>
              <a:rPr dirty="0" err="1"/>
              <a:t>расходом</a:t>
            </a:r>
            <a:r>
              <a:rPr dirty="0"/>
              <a:t> </a:t>
            </a:r>
            <a:r>
              <a:rPr dirty="0" err="1"/>
              <a:t>батареи</a:t>
            </a:r>
            <a:r>
              <a:rPr dirty="0"/>
              <a:t> и </a:t>
            </a:r>
            <a:r>
              <a:rPr dirty="0" err="1"/>
              <a:t>количеством</a:t>
            </a:r>
            <a:r>
              <a:rPr dirty="0"/>
              <a:t> </a:t>
            </a:r>
            <a:r>
              <a:rPr dirty="0" err="1"/>
              <a:t>снимков</a:t>
            </a:r>
            <a:r>
              <a:rPr dirty="0"/>
              <a:t>. </a:t>
            </a:r>
            <a:r>
              <a:rPr dirty="0" err="1"/>
              <a:t>Пример</a:t>
            </a:r>
            <a:r>
              <a:rPr dirty="0"/>
              <a:t>: </a:t>
            </a:r>
            <a:r>
              <a:rPr dirty="0" err="1"/>
              <a:t>длина</a:t>
            </a:r>
            <a:r>
              <a:rPr dirty="0"/>
              <a:t> </a:t>
            </a:r>
            <a:r>
              <a:rPr sz="1200" b="1" i="0" dirty="0">
                <a:solidFill>
                  <a:srgbClr val="EFF5F1"/>
                </a:solidFill>
                <a:latin typeface="Instrument Sans"/>
              </a:rPr>
              <a:t>202.99 м</a:t>
            </a:r>
            <a:r>
              <a:rPr dirty="0"/>
              <a:t>, </a:t>
            </a:r>
            <a:r>
              <a:rPr dirty="0" err="1"/>
              <a:t>расход</a:t>
            </a:r>
            <a:r>
              <a:rPr dirty="0"/>
              <a:t> </a:t>
            </a:r>
            <a:r>
              <a:rPr sz="1200" b="1" i="0" dirty="0">
                <a:solidFill>
                  <a:srgbClr val="EFF5F1"/>
                </a:solidFill>
                <a:latin typeface="Instrument Sans"/>
              </a:rPr>
              <a:t>0.28</a:t>
            </a:r>
            <a:r>
              <a:rPr dirty="0"/>
              <a:t>, </a:t>
            </a:r>
            <a:r>
              <a:rPr dirty="0" err="1"/>
              <a:t>время</a:t>
            </a:r>
            <a:r>
              <a:rPr dirty="0"/>
              <a:t> </a:t>
            </a:r>
            <a:r>
              <a:rPr sz="1200" b="1" i="0" dirty="0">
                <a:solidFill>
                  <a:srgbClr val="EFF5F1"/>
                </a:solidFill>
                <a:latin typeface="Instrument Sans"/>
              </a:rPr>
              <a:t>15.48</a:t>
            </a:r>
            <a:r>
              <a:rPr dirty="0"/>
              <a:t>.</a:t>
            </a:r>
          </a:p>
        </p:txBody>
      </p:sp>
      <p:sp>
        <p:nvSpPr>
          <p:cNvPr id="3" name="Rectangle 2"/>
          <p:cNvSpPr/>
          <p:nvPr/>
        </p:nvSpPr>
        <p:spPr>
          <a:xfrm>
            <a:off x="1560611" y="3428404"/>
            <a:ext cx="1784598" cy="190500"/>
          </a:xfrm>
          <a:prstGeom prst="rect">
            <a:avLst/>
          </a:prstGeom>
          <a:no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Rounded Rectangle 3"/>
          <p:cNvSpPr/>
          <p:nvPr/>
        </p:nvSpPr>
        <p:spPr>
          <a:xfrm>
            <a:off x="7716142" y="1733550"/>
            <a:ext cx="3380482" cy="876300"/>
          </a:xfrm>
          <a:prstGeom prst="roundRect">
            <a:avLst>
              <a:gd name="adj" fmla="val 3695"/>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228600" tIns="152400" rIns="228600" bIns="152400" rtlCol="0" anchor="ctr"/>
          <a:lstStyle/>
          <a:p>
            <a:pPr algn="ctr"/>
            <a:endParaRPr/>
          </a:p>
        </p:txBody>
      </p:sp>
      <p:sp>
        <p:nvSpPr>
          <p:cNvPr id="5" name="Rounded Rectangle 4"/>
          <p:cNvSpPr/>
          <p:nvPr/>
        </p:nvSpPr>
        <p:spPr>
          <a:xfrm>
            <a:off x="7716142" y="2990850"/>
            <a:ext cx="3380482" cy="876300"/>
          </a:xfrm>
          <a:prstGeom prst="roundRect">
            <a:avLst>
              <a:gd name="adj" fmla="val 3695"/>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228600" tIns="152400" rIns="228600" bIns="152400" rtlCol="0" anchor="ctr"/>
          <a:lstStyle/>
          <a:p>
            <a:pPr algn="ctr"/>
            <a:endParaRPr/>
          </a:p>
        </p:txBody>
      </p:sp>
      <p:sp>
        <p:nvSpPr>
          <p:cNvPr id="6" name="Rounded Rectangle 5"/>
          <p:cNvSpPr/>
          <p:nvPr/>
        </p:nvSpPr>
        <p:spPr>
          <a:xfrm>
            <a:off x="7716142" y="4248150"/>
            <a:ext cx="3380482" cy="876300"/>
          </a:xfrm>
          <a:prstGeom prst="roundRect">
            <a:avLst>
              <a:gd name="adj" fmla="val 3695"/>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228600" tIns="152400" rIns="228600" bIns="152400" rtlCol="0" anchor="ctr"/>
          <a:lstStyle/>
          <a:p>
            <a:pPr algn="ctr"/>
            <a:endParaRPr/>
          </a:p>
        </p:txBody>
      </p:sp>
      <p:sp>
        <p:nvSpPr>
          <p:cNvPr id="7" name="TextBox 6"/>
          <p:cNvSpPr txBox="1"/>
          <p:nvPr/>
        </p:nvSpPr>
        <p:spPr>
          <a:xfrm>
            <a:off x="1095375" y="2381845"/>
            <a:ext cx="2973734" cy="495300"/>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3202" b="1" i="0" spc="-120">
                <a:solidFill>
                  <a:srgbClr val="EFF5F1"/>
                </a:solidFill>
                <a:latin typeface="Instrument Sans"/>
              </a:defRPr>
            </a:pPr>
            <a:r>
              <a:rPr sz="3202" b="1" i="0">
                <a:solidFill>
                  <a:srgbClr val="EFF5F1"/>
                </a:solidFill>
                <a:latin typeface="Instrument Sans"/>
              </a:rPr>
              <a:t>REST API — демо</a:t>
            </a:r>
          </a:p>
        </p:txBody>
      </p:sp>
      <p:sp>
        <p:nvSpPr>
          <p:cNvPr id="8" name="Rounded Rectangle 7"/>
          <p:cNvSpPr/>
          <p:nvPr/>
        </p:nvSpPr>
        <p:spPr>
          <a:xfrm>
            <a:off x="6896992" y="1857375"/>
            <a:ext cx="628650" cy="628650"/>
          </a:xfrm>
          <a:prstGeom prst="roundRect">
            <a:avLst>
              <a:gd name="adj" fmla="val 50000"/>
            </a:avLst>
          </a:prstGeom>
          <a:solidFill>
            <a:srgbClr val="EFF5F1"/>
          </a:solidFill>
          <a:ln w="9525">
            <a:solidFill>
              <a:srgbClr val="585858"/>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Rounded Rectangle 8"/>
          <p:cNvSpPr/>
          <p:nvPr/>
        </p:nvSpPr>
        <p:spPr>
          <a:xfrm>
            <a:off x="6896992" y="3114675"/>
            <a:ext cx="628650" cy="628650"/>
          </a:xfrm>
          <a:prstGeom prst="roundRect">
            <a:avLst>
              <a:gd name="adj" fmla="val 50000"/>
            </a:avLst>
          </a:prstGeom>
          <a:solidFill>
            <a:srgbClr val="EFF5F1"/>
          </a:solidFill>
          <a:ln w="9525">
            <a:solidFill>
              <a:srgbClr val="585858"/>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Rounded Rectangle 9"/>
          <p:cNvSpPr/>
          <p:nvPr/>
        </p:nvSpPr>
        <p:spPr>
          <a:xfrm>
            <a:off x="6896992" y="4371975"/>
            <a:ext cx="628650" cy="628650"/>
          </a:xfrm>
          <a:prstGeom prst="roundRect">
            <a:avLst>
              <a:gd name="adj" fmla="val 50000"/>
            </a:avLst>
          </a:prstGeom>
          <a:solidFill>
            <a:srgbClr val="EFF5F1"/>
          </a:solidFill>
          <a:ln w="9525">
            <a:solidFill>
              <a:srgbClr val="585858"/>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7944742" y="2193577"/>
            <a:ext cx="1726406" cy="180975"/>
          </a:xfrm>
          <a:prstGeom prst="rect">
            <a:avLst/>
          </a:prstGeom>
          <a:noFill/>
          <a:ln>
            <a:noFill/>
          </a:ln>
          <a:effectLst>
            <a:outerShdw>
              <a:srgbClr val="000000">
                <a:alpha val="0"/>
              </a:srgbClr>
            </a:outerShdw>
          </a:effectLst>
        </p:spPr>
        <p:txBody>
          <a:bodyPr wrap="square" lIns="0" tIns="0" rIns="0" bIns="0">
            <a:spAutoFit/>
          </a:bodyPr>
          <a:lstStyle/>
          <a:p>
            <a:pPr>
              <a:lnSpc>
                <a:spcPct val="96209"/>
              </a:lnSpc>
              <a:defRPr sz="1147" b="0" i="0">
                <a:solidFill>
                  <a:srgbClr val="EFF5F1"/>
                </a:solidFill>
                <a:latin typeface="Instrument Sans"/>
              </a:defRPr>
            </a:pPr>
            <a:r>
              <a:rPr sz="1147" b="0" i="0">
                <a:solidFill>
                  <a:srgbClr val="EFF5F1"/>
                </a:solidFill>
                <a:latin typeface="Instrument Sans"/>
              </a:rPr>
              <a:t>http://127.0.0.1:8000/docs</a:t>
            </a:r>
          </a:p>
        </p:txBody>
      </p:sp>
      <p:sp>
        <p:nvSpPr>
          <p:cNvPr id="12" name="TextBox 11"/>
          <p:cNvSpPr txBox="1"/>
          <p:nvPr/>
        </p:nvSpPr>
        <p:spPr>
          <a:xfrm>
            <a:off x="7944742" y="4708177"/>
            <a:ext cx="1469826" cy="180975"/>
          </a:xfrm>
          <a:prstGeom prst="rect">
            <a:avLst/>
          </a:prstGeom>
          <a:noFill/>
          <a:ln>
            <a:noFill/>
          </a:ln>
          <a:effectLst>
            <a:outerShdw>
              <a:srgbClr val="000000">
                <a:alpha val="0"/>
              </a:srgbClr>
            </a:outerShdw>
          </a:effectLst>
        </p:spPr>
        <p:txBody>
          <a:bodyPr wrap="square" lIns="0" tIns="0" rIns="0" bIns="0">
            <a:spAutoFit/>
          </a:bodyPr>
          <a:lstStyle/>
          <a:p>
            <a:pPr>
              <a:lnSpc>
                <a:spcPct val="96209"/>
              </a:lnSpc>
              <a:defRPr sz="1147" b="0" i="0">
                <a:solidFill>
                  <a:srgbClr val="EFF5F1"/>
                </a:solidFill>
                <a:latin typeface="Instrument Sans"/>
              </a:defRPr>
            </a:pPr>
            <a:r>
              <a:rPr sz="1147" b="0" i="0">
                <a:solidFill>
                  <a:srgbClr val="EFF5F1"/>
                </a:solidFill>
                <a:latin typeface="Instrument Sans"/>
              </a:rPr>
              <a:t>202.99 м / 0.28 / 15.48</a:t>
            </a:r>
          </a:p>
        </p:txBody>
      </p:sp>
      <p:sp>
        <p:nvSpPr>
          <p:cNvPr id="13" name="TextBox 12"/>
          <p:cNvSpPr txBox="1"/>
          <p:nvPr/>
        </p:nvSpPr>
        <p:spPr>
          <a:xfrm>
            <a:off x="7944742" y="1964977"/>
            <a:ext cx="914251"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Swagger UI</a:t>
            </a:r>
          </a:p>
        </p:txBody>
      </p:sp>
      <p:sp>
        <p:nvSpPr>
          <p:cNvPr id="14" name="TextBox 13"/>
          <p:cNvSpPr txBox="1"/>
          <p:nvPr/>
        </p:nvSpPr>
        <p:spPr>
          <a:xfrm>
            <a:off x="7944742" y="3450877"/>
            <a:ext cx="800546" cy="180975"/>
          </a:xfrm>
          <a:prstGeom prst="rect">
            <a:avLst/>
          </a:prstGeom>
          <a:noFill/>
          <a:ln>
            <a:noFill/>
          </a:ln>
          <a:effectLst>
            <a:outerShdw>
              <a:srgbClr val="000000">
                <a:alpha val="0"/>
              </a:srgbClr>
            </a:outerShdw>
          </a:effectLst>
        </p:spPr>
        <p:txBody>
          <a:bodyPr wrap="square" lIns="0" tIns="0" rIns="0" bIns="0">
            <a:spAutoFit/>
          </a:bodyPr>
          <a:lstStyle/>
          <a:p>
            <a:pPr>
              <a:lnSpc>
                <a:spcPct val="96209"/>
              </a:lnSpc>
              <a:defRPr sz="1147" b="0" i="0">
                <a:solidFill>
                  <a:srgbClr val="EFF5F1"/>
                </a:solidFill>
                <a:latin typeface="Instrument Sans"/>
              </a:defRPr>
            </a:pPr>
            <a:r>
              <a:rPr sz="1147" b="0" i="0">
                <a:solidFill>
                  <a:srgbClr val="EFF5F1"/>
                </a:solidFill>
                <a:latin typeface="Instrument Sans"/>
              </a:rPr>
              <a:t>JSON-ответ</a:t>
            </a:r>
          </a:p>
        </p:txBody>
      </p:sp>
      <p:sp>
        <p:nvSpPr>
          <p:cNvPr id="15" name="TextBox 14"/>
          <p:cNvSpPr txBox="1"/>
          <p:nvPr/>
        </p:nvSpPr>
        <p:spPr>
          <a:xfrm>
            <a:off x="7944742" y="4479577"/>
            <a:ext cx="617785"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Пример</a:t>
            </a:r>
          </a:p>
        </p:txBody>
      </p:sp>
      <p:sp>
        <p:nvSpPr>
          <p:cNvPr id="16" name="TextBox 15"/>
          <p:cNvSpPr txBox="1"/>
          <p:nvPr/>
        </p:nvSpPr>
        <p:spPr>
          <a:xfrm>
            <a:off x="7944742" y="3222277"/>
            <a:ext cx="609153" cy="200025"/>
          </a:xfrm>
          <a:prstGeom prst="rect">
            <a:avLst/>
          </a:prstGeom>
          <a:noFill/>
          <a:ln>
            <a:noFill/>
          </a:ln>
          <a:effectLst>
            <a:outerShdw>
              <a:srgbClr val="000000">
                <a:alpha val="0"/>
              </a:srgbClr>
            </a:outerShdw>
          </a:effectLst>
        </p:spPr>
        <p:txBody>
          <a:bodyPr wrap="square" lIns="0" tIns="0" rIns="0" bIns="0">
            <a:spAutoFit/>
          </a:bodyPr>
          <a:lstStyle/>
          <a:p>
            <a:pPr>
              <a:lnSpc>
                <a:spcPct val="96000"/>
              </a:lnSpc>
              <a:defRPr sz="1312" b="1" i="0">
                <a:solidFill>
                  <a:srgbClr val="EFF5F1"/>
                </a:solidFill>
                <a:latin typeface="Instrument Sans"/>
              </a:defRPr>
            </a:pPr>
            <a:r>
              <a:rPr sz="1312" b="1" i="0">
                <a:solidFill>
                  <a:srgbClr val="EFF5F1"/>
                </a:solidFill>
                <a:latin typeface="Instrument Sans"/>
              </a:rPr>
              <a:t>Формат</a:t>
            </a:r>
          </a:p>
        </p:txBody>
      </p:sp>
      <p:pic>
        <p:nvPicPr>
          <p:cNvPr id="17" name="Picture 16" descr="274c1763-03bd-45b6-97f0-68825d671bd0.png"/>
          <p:cNvPicPr>
            <a:picLocks noChangeAspect="1"/>
          </p:cNvPicPr>
          <p:nvPr/>
        </p:nvPicPr>
        <p:blipFill>
          <a:blip r:embed="rId3"/>
          <a:stretch>
            <a:fillRect/>
          </a:stretch>
        </p:blipFill>
        <p:spPr>
          <a:xfrm>
            <a:off x="7058917" y="2019300"/>
            <a:ext cx="304800" cy="304800"/>
          </a:xfrm>
          <a:prstGeom prst="rect">
            <a:avLst/>
          </a:prstGeom>
        </p:spPr>
      </p:pic>
      <p:pic>
        <p:nvPicPr>
          <p:cNvPr id="18" name="Picture 17" descr="ba66eec3-6091-46f9-ab4e-22d43f13d876.png"/>
          <p:cNvPicPr>
            <a:picLocks noChangeAspect="1"/>
          </p:cNvPicPr>
          <p:nvPr/>
        </p:nvPicPr>
        <p:blipFill>
          <a:blip r:embed="rId4"/>
          <a:stretch>
            <a:fillRect/>
          </a:stretch>
        </p:blipFill>
        <p:spPr>
          <a:xfrm>
            <a:off x="7058917" y="3276600"/>
            <a:ext cx="304800" cy="304800"/>
          </a:xfrm>
          <a:prstGeom prst="rect">
            <a:avLst/>
          </a:prstGeom>
        </p:spPr>
      </p:pic>
      <p:pic>
        <p:nvPicPr>
          <p:cNvPr id="19" name="Picture 18" descr="cf2d54f4-61a9-427c-ba80-00fda3bc98b2.png"/>
          <p:cNvPicPr>
            <a:picLocks noChangeAspect="1"/>
          </p:cNvPicPr>
          <p:nvPr/>
        </p:nvPicPr>
        <p:blipFill>
          <a:blip r:embed="rId5"/>
          <a:stretch>
            <a:fillRect/>
          </a:stretch>
        </p:blipFill>
        <p:spPr>
          <a:xfrm>
            <a:off x="7058917" y="4533900"/>
            <a:ext cx="304800" cy="30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TextBox 1"/>
          <p:cNvSpPr txBox="1"/>
          <p:nvPr/>
        </p:nvSpPr>
        <p:spPr>
          <a:xfrm>
            <a:off x="495300" y="3347144"/>
            <a:ext cx="4633317" cy="876300"/>
          </a:xfrm>
          <a:prstGeom prst="rect">
            <a:avLst/>
          </a:prstGeom>
          <a:noFill/>
          <a:ln>
            <a:noFill/>
          </a:ln>
          <a:effectLst>
            <a:outerShdw>
              <a:srgbClr val="000000">
                <a:alpha val="0"/>
              </a:srgbClr>
            </a:outerShdw>
          </a:effectLst>
        </p:spPr>
        <p:txBody>
          <a:bodyPr wrap="square" lIns="0" tIns="0" rIns="0" bIns="0">
            <a:spAutoFit/>
          </a:bodyPr>
          <a:lstStyle/>
          <a:p>
            <a:pPr>
              <a:lnSpc>
                <a:spcPct val="120000"/>
              </a:lnSpc>
              <a:defRPr sz="1200" b="0" i="0">
                <a:solidFill>
                  <a:srgbClr val="EFF5F1"/>
                </a:solidFill>
                <a:latin typeface="Instrument Sans"/>
              </a:defRPr>
            </a:pPr>
            <a:r>
              <a:rPr sz="1200" b="0" i="0">
                <a:solidFill>
                  <a:srgbClr val="EFF5F1"/>
                </a:solidFill>
                <a:latin typeface="Instrument Sans"/>
              </a:rPr>
              <a:t>Разработан программный инструмент </a:t>
            </a:r>
            <a:r>
              <a:rPr sz="1200" b="1" i="0">
                <a:solidFill>
                  <a:srgbClr val="EFF5F1"/>
                </a:solidFill>
                <a:latin typeface="Instrument Sans"/>
              </a:rPr>
              <a:t>автоматической подготовки</a:t>
            </a:r>
            <a:r>
              <a:rPr sz="1200" b="0" i="0">
                <a:solidFill>
                  <a:srgbClr val="EFF5F1"/>
                </a:solidFill>
                <a:latin typeface="Instrument Sans"/>
              </a:rPr>
              <a:t> полётных миссий БПЛА для карьерной съёмки. Реализованы генерация сетки точек, оптимизация маршрута, расчёт параметров полёта, формирование миссии и REST API с валидацией данных.</a:t>
            </a:r>
          </a:p>
        </p:txBody>
      </p:sp>
      <p:sp>
        <p:nvSpPr>
          <p:cNvPr id="3" name="Rounded Rectangle 2"/>
          <p:cNvSpPr/>
          <p:nvPr/>
        </p:nvSpPr>
        <p:spPr>
          <a:xfrm>
            <a:off x="6521797" y="1055340"/>
            <a:ext cx="2469802" cy="1455390"/>
          </a:xfrm>
          <a:prstGeom prst="roundRect">
            <a:avLst>
              <a:gd name="adj" fmla="val 229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266700" tIns="266700" rIns="266700" bIns="266700" rtlCol="0" anchor="ctr"/>
          <a:lstStyle/>
          <a:p>
            <a:pPr algn="ctr"/>
            <a:endParaRPr/>
          </a:p>
        </p:txBody>
      </p:sp>
      <p:sp>
        <p:nvSpPr>
          <p:cNvPr id="4" name="Rounded Rectangle 3"/>
          <p:cNvSpPr/>
          <p:nvPr/>
        </p:nvSpPr>
        <p:spPr>
          <a:xfrm>
            <a:off x="6521797" y="2701230"/>
            <a:ext cx="2469802" cy="1455390"/>
          </a:xfrm>
          <a:prstGeom prst="roundRect">
            <a:avLst>
              <a:gd name="adj" fmla="val 229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266700" tIns="266700" rIns="266700" bIns="266700" rtlCol="0" anchor="ctr"/>
          <a:lstStyle/>
          <a:p>
            <a:pPr algn="ctr"/>
            <a:endParaRPr/>
          </a:p>
        </p:txBody>
      </p:sp>
      <p:sp>
        <p:nvSpPr>
          <p:cNvPr id="5" name="Rounded Rectangle 4"/>
          <p:cNvSpPr/>
          <p:nvPr/>
        </p:nvSpPr>
        <p:spPr>
          <a:xfrm>
            <a:off x="6521797" y="4347120"/>
            <a:ext cx="2469802" cy="1455390"/>
          </a:xfrm>
          <a:prstGeom prst="roundRect">
            <a:avLst>
              <a:gd name="adj" fmla="val 229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266700" tIns="266700" rIns="266700" bIns="266700" rtlCol="0" anchor="ctr"/>
          <a:lstStyle/>
          <a:p>
            <a:pPr algn="ctr"/>
            <a:endParaRPr/>
          </a:p>
        </p:txBody>
      </p:sp>
      <p:sp>
        <p:nvSpPr>
          <p:cNvPr id="6" name="Rounded Rectangle 5"/>
          <p:cNvSpPr/>
          <p:nvPr/>
        </p:nvSpPr>
        <p:spPr>
          <a:xfrm>
            <a:off x="9229725" y="1055340"/>
            <a:ext cx="2466975" cy="1455390"/>
          </a:xfrm>
          <a:prstGeom prst="roundRect">
            <a:avLst>
              <a:gd name="adj" fmla="val 229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266700" tIns="266700" rIns="266700" bIns="266700" rtlCol="0" anchor="ctr"/>
          <a:lstStyle/>
          <a:p>
            <a:pPr algn="ctr"/>
            <a:endParaRPr/>
          </a:p>
        </p:txBody>
      </p:sp>
      <p:sp>
        <p:nvSpPr>
          <p:cNvPr id="7" name="Rounded Rectangle 6"/>
          <p:cNvSpPr/>
          <p:nvPr/>
        </p:nvSpPr>
        <p:spPr>
          <a:xfrm>
            <a:off x="9229725" y="2701230"/>
            <a:ext cx="2466975" cy="1455390"/>
          </a:xfrm>
          <a:prstGeom prst="roundRect">
            <a:avLst>
              <a:gd name="adj" fmla="val 229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266700" tIns="266700" rIns="266700" bIns="266700" rtlCol="0" anchor="ctr"/>
          <a:lstStyle/>
          <a:p>
            <a:pPr algn="ctr"/>
            <a:endParaRPr/>
          </a:p>
        </p:txBody>
      </p:sp>
      <p:sp>
        <p:nvSpPr>
          <p:cNvPr id="8" name="Rounded Rectangle 7"/>
          <p:cNvSpPr/>
          <p:nvPr/>
        </p:nvSpPr>
        <p:spPr>
          <a:xfrm>
            <a:off x="9229725" y="4347120"/>
            <a:ext cx="2466975" cy="1455390"/>
          </a:xfrm>
          <a:prstGeom prst="roundRect">
            <a:avLst>
              <a:gd name="adj" fmla="val 2290"/>
            </a:avLst>
          </a:prstGeom>
          <a:solidFill>
            <a:srgbClr val="424242"/>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266700" tIns="266700" rIns="266700" bIns="266700" rtlCol="0" anchor="ctr"/>
          <a:lstStyle/>
          <a:p>
            <a:pPr algn="ctr"/>
            <a:endParaRPr/>
          </a:p>
        </p:txBody>
      </p:sp>
      <p:sp>
        <p:nvSpPr>
          <p:cNvPr id="9" name="TextBox 8"/>
          <p:cNvSpPr txBox="1"/>
          <p:nvPr/>
        </p:nvSpPr>
        <p:spPr>
          <a:xfrm>
            <a:off x="495300" y="2577256"/>
            <a:ext cx="2518320" cy="495300"/>
          </a:xfrm>
          <a:prstGeom prst="rect">
            <a:avLst/>
          </a:prstGeom>
          <a:noFill/>
          <a:ln>
            <a:noFill/>
          </a:ln>
          <a:effectLst>
            <a:outerShdw>
              <a:srgbClr val="000000">
                <a:alpha val="0"/>
              </a:srgbClr>
            </a:outerShdw>
          </a:effectLst>
        </p:spPr>
        <p:txBody>
          <a:bodyPr wrap="square" lIns="0" tIns="0" rIns="0" bIns="0">
            <a:spAutoFit/>
          </a:bodyPr>
          <a:lstStyle/>
          <a:p>
            <a:pPr>
              <a:lnSpc>
                <a:spcPct val="84000"/>
              </a:lnSpc>
              <a:defRPr sz="3202" b="1" i="0" spc="-120">
                <a:solidFill>
                  <a:srgbClr val="EFF5F1"/>
                </a:solidFill>
                <a:latin typeface="Instrument Sans"/>
              </a:defRPr>
            </a:pPr>
            <a:r>
              <a:rPr sz="3202" b="1" i="0">
                <a:solidFill>
                  <a:srgbClr val="EFF5F1"/>
                </a:solidFill>
                <a:latin typeface="Instrument Sans"/>
              </a:rPr>
              <a:t>Итоги проекта</a:t>
            </a:r>
          </a:p>
        </p:txBody>
      </p:sp>
      <p:sp>
        <p:nvSpPr>
          <p:cNvPr id="10" name="TextBox 9"/>
          <p:cNvSpPr txBox="1"/>
          <p:nvPr/>
        </p:nvSpPr>
        <p:spPr>
          <a:xfrm>
            <a:off x="6788497" y="3467992"/>
            <a:ext cx="1997422" cy="457200"/>
          </a:xfrm>
          <a:prstGeom prst="rect">
            <a:avLst/>
          </a:prstGeom>
          <a:noFill/>
          <a:ln>
            <a:noFill/>
          </a:ln>
          <a:effectLst>
            <a:outerShdw>
              <a:srgbClr val="000000">
                <a:alpha val="0"/>
              </a:srgbClr>
            </a:outerShdw>
          </a:effectLst>
        </p:spPr>
        <p:txBody>
          <a:bodyPr wrap="square" lIns="0" tIns="0" rIns="0" bIns="0">
            <a:spAutoFit/>
          </a:bodyPr>
          <a:lstStyle/>
          <a:p>
            <a:pPr>
              <a:lnSpc>
                <a:spcPct val="80000"/>
              </a:lnSpc>
              <a:defRPr sz="2947" b="1" i="0">
                <a:solidFill>
                  <a:srgbClr val="EFF5F1"/>
                </a:solidFill>
                <a:latin typeface="Instrument Sans"/>
              </a:defRPr>
            </a:pPr>
            <a:r>
              <a:rPr sz="2947" b="1" i="0" dirty="0">
                <a:solidFill>
                  <a:srgbClr val="EFF5F1"/>
                </a:solidFill>
                <a:latin typeface="Instrument Sans"/>
              </a:rPr>
              <a:t>JSON+PNG</a:t>
            </a:r>
          </a:p>
        </p:txBody>
      </p:sp>
      <p:sp>
        <p:nvSpPr>
          <p:cNvPr id="11" name="TextBox 10"/>
          <p:cNvSpPr txBox="1"/>
          <p:nvPr/>
        </p:nvSpPr>
        <p:spPr>
          <a:xfrm>
            <a:off x="6788497" y="1869727"/>
            <a:ext cx="1955452" cy="374302"/>
          </a:xfrm>
          <a:prstGeom prst="rect">
            <a:avLst/>
          </a:prstGeom>
          <a:noFill/>
          <a:ln>
            <a:noFill/>
          </a:ln>
          <a:effectLst>
            <a:outerShdw>
              <a:srgbClr val="000000">
                <a:alpha val="0"/>
              </a:srgbClr>
            </a:outerShdw>
          </a:effectLst>
        </p:spPr>
        <p:txBody>
          <a:bodyPr wrap="square" lIns="0" tIns="0" rIns="0" bIns="0">
            <a:spAutoFit/>
          </a:bodyPr>
          <a:lstStyle/>
          <a:p>
            <a:pPr>
              <a:lnSpc>
                <a:spcPct val="80000"/>
              </a:lnSpc>
              <a:defRPr sz="2947" b="1" i="0">
                <a:solidFill>
                  <a:srgbClr val="EFF5F1"/>
                </a:solidFill>
                <a:latin typeface="Instrument Sans"/>
              </a:defRPr>
            </a:pPr>
            <a:r>
              <a:rPr sz="2947" b="1" i="0">
                <a:solidFill>
                  <a:srgbClr val="EFF5F1"/>
                </a:solidFill>
                <a:latin typeface="Instrument Sans"/>
              </a:rPr>
              <a:t>2</a:t>
            </a:r>
          </a:p>
        </p:txBody>
      </p:sp>
      <p:sp>
        <p:nvSpPr>
          <p:cNvPr id="12" name="TextBox 11"/>
          <p:cNvSpPr txBox="1"/>
          <p:nvPr/>
        </p:nvSpPr>
        <p:spPr>
          <a:xfrm>
            <a:off x="6788497" y="5113883"/>
            <a:ext cx="965448" cy="457200"/>
          </a:xfrm>
          <a:prstGeom prst="rect">
            <a:avLst/>
          </a:prstGeom>
          <a:noFill/>
          <a:ln>
            <a:noFill/>
          </a:ln>
          <a:effectLst>
            <a:outerShdw>
              <a:srgbClr val="000000">
                <a:alpha val="0"/>
              </a:srgbClr>
            </a:outerShdw>
          </a:effectLst>
        </p:spPr>
        <p:txBody>
          <a:bodyPr wrap="square" lIns="0" tIns="0" rIns="0" bIns="0">
            <a:spAutoFit/>
          </a:bodyPr>
          <a:lstStyle/>
          <a:p>
            <a:pPr>
              <a:lnSpc>
                <a:spcPct val="80000"/>
              </a:lnSpc>
              <a:defRPr sz="2947" b="1" i="0">
                <a:solidFill>
                  <a:srgbClr val="EFF5F1"/>
                </a:solidFill>
                <a:latin typeface="Instrument Sans"/>
              </a:defRPr>
            </a:pPr>
            <a:r>
              <a:rPr sz="2947" b="1" i="0">
                <a:solidFill>
                  <a:srgbClr val="EFF5F1"/>
                </a:solidFill>
                <a:latin typeface="Instrument Sans"/>
              </a:rPr>
              <a:t>100%</a:t>
            </a:r>
          </a:p>
        </p:txBody>
      </p:sp>
      <p:sp>
        <p:nvSpPr>
          <p:cNvPr id="13" name="TextBox 12"/>
          <p:cNvSpPr txBox="1"/>
          <p:nvPr/>
        </p:nvSpPr>
        <p:spPr>
          <a:xfrm>
            <a:off x="9496425" y="1822102"/>
            <a:ext cx="848469" cy="457200"/>
          </a:xfrm>
          <a:prstGeom prst="rect">
            <a:avLst/>
          </a:prstGeom>
          <a:noFill/>
          <a:ln>
            <a:noFill/>
          </a:ln>
          <a:effectLst>
            <a:outerShdw>
              <a:srgbClr val="000000">
                <a:alpha val="0"/>
              </a:srgbClr>
            </a:outerShdw>
          </a:effectLst>
        </p:spPr>
        <p:txBody>
          <a:bodyPr wrap="square" lIns="0" tIns="0" rIns="0" bIns="0">
            <a:spAutoFit/>
          </a:bodyPr>
          <a:lstStyle/>
          <a:p>
            <a:pPr>
              <a:lnSpc>
                <a:spcPct val="80000"/>
              </a:lnSpc>
              <a:defRPr sz="2947" b="1" i="0">
                <a:solidFill>
                  <a:srgbClr val="EFF5F1"/>
                </a:solidFill>
                <a:latin typeface="Instrument Sans"/>
              </a:defRPr>
            </a:pPr>
            <a:r>
              <a:rPr sz="2947" b="1" i="0">
                <a:solidFill>
                  <a:srgbClr val="EFF5F1"/>
                </a:solidFill>
                <a:latin typeface="Instrument Sans"/>
              </a:rPr>
              <a:t>Авто</a:t>
            </a:r>
          </a:p>
        </p:txBody>
      </p:sp>
      <p:sp>
        <p:nvSpPr>
          <p:cNvPr id="14" name="TextBox 13"/>
          <p:cNvSpPr txBox="1"/>
          <p:nvPr/>
        </p:nvSpPr>
        <p:spPr>
          <a:xfrm>
            <a:off x="9496425" y="3467992"/>
            <a:ext cx="848469" cy="457200"/>
          </a:xfrm>
          <a:prstGeom prst="rect">
            <a:avLst/>
          </a:prstGeom>
          <a:noFill/>
          <a:ln>
            <a:noFill/>
          </a:ln>
          <a:effectLst>
            <a:outerShdw>
              <a:srgbClr val="000000">
                <a:alpha val="0"/>
              </a:srgbClr>
            </a:outerShdw>
          </a:effectLst>
        </p:spPr>
        <p:txBody>
          <a:bodyPr wrap="square" lIns="0" tIns="0" rIns="0" bIns="0">
            <a:spAutoFit/>
          </a:bodyPr>
          <a:lstStyle/>
          <a:p>
            <a:pPr>
              <a:lnSpc>
                <a:spcPct val="80000"/>
              </a:lnSpc>
              <a:defRPr sz="2947" b="1" i="0">
                <a:solidFill>
                  <a:srgbClr val="EFF5F1"/>
                </a:solidFill>
                <a:latin typeface="Instrument Sans"/>
              </a:defRPr>
            </a:pPr>
            <a:r>
              <a:rPr sz="2947" b="1" i="0">
                <a:solidFill>
                  <a:srgbClr val="EFF5F1"/>
                </a:solidFill>
                <a:latin typeface="Instrument Sans"/>
              </a:rPr>
              <a:t>Авто</a:t>
            </a:r>
          </a:p>
        </p:txBody>
      </p:sp>
      <p:sp>
        <p:nvSpPr>
          <p:cNvPr id="15" name="TextBox 14"/>
          <p:cNvSpPr txBox="1"/>
          <p:nvPr/>
        </p:nvSpPr>
        <p:spPr>
          <a:xfrm>
            <a:off x="9496425" y="5113883"/>
            <a:ext cx="848469" cy="457200"/>
          </a:xfrm>
          <a:prstGeom prst="rect">
            <a:avLst/>
          </a:prstGeom>
          <a:noFill/>
          <a:ln>
            <a:noFill/>
          </a:ln>
          <a:effectLst>
            <a:outerShdw>
              <a:srgbClr val="000000">
                <a:alpha val="0"/>
              </a:srgbClr>
            </a:outerShdw>
          </a:effectLst>
        </p:spPr>
        <p:txBody>
          <a:bodyPr wrap="square" lIns="0" tIns="0" rIns="0" bIns="0">
            <a:spAutoFit/>
          </a:bodyPr>
          <a:lstStyle/>
          <a:p>
            <a:pPr>
              <a:lnSpc>
                <a:spcPct val="80000"/>
              </a:lnSpc>
              <a:defRPr sz="2947" b="1" i="0">
                <a:solidFill>
                  <a:srgbClr val="EFF5F1"/>
                </a:solidFill>
                <a:latin typeface="Instrument Sans"/>
              </a:defRPr>
            </a:pPr>
            <a:r>
              <a:rPr sz="2947" b="1" i="0">
                <a:solidFill>
                  <a:srgbClr val="EFF5F1"/>
                </a:solidFill>
                <a:latin typeface="Instrument Sans"/>
              </a:rPr>
              <a:t>Авто</a:t>
            </a:r>
          </a:p>
        </p:txBody>
      </p:sp>
      <p:sp>
        <p:nvSpPr>
          <p:cNvPr id="16" name="TextBox 15"/>
          <p:cNvSpPr txBox="1"/>
          <p:nvPr/>
        </p:nvSpPr>
        <p:spPr>
          <a:xfrm>
            <a:off x="6788497" y="1331565"/>
            <a:ext cx="1832669" cy="200025"/>
          </a:xfrm>
          <a:prstGeom prst="rect">
            <a:avLst/>
          </a:prstGeom>
          <a:noFill/>
          <a:ln>
            <a:noFill/>
          </a:ln>
          <a:effectLst>
            <a:outerShdw>
              <a:srgbClr val="000000">
                <a:alpha val="0"/>
              </a:srgbClr>
            </a:outerShdw>
          </a:effectLst>
        </p:spPr>
        <p:txBody>
          <a:bodyPr wrap="square" lIns="0" tIns="0" rIns="0" bIns="0">
            <a:spAutoFit/>
          </a:bodyPr>
          <a:lstStyle/>
          <a:p>
            <a:pPr>
              <a:lnSpc>
                <a:spcPct val="112000"/>
              </a:lnSpc>
              <a:defRPr sz="1335" b="0" i="0">
                <a:solidFill>
                  <a:srgbClr val="EFF5F1"/>
                </a:solidFill>
                <a:latin typeface="Instrument Sans"/>
              </a:defRPr>
            </a:pPr>
            <a:r>
              <a:rPr sz="1335" b="0" i="0">
                <a:solidFill>
                  <a:srgbClr val="EFF5F1"/>
                </a:solidFill>
                <a:latin typeface="Instrument Sans"/>
              </a:rPr>
              <a:t>Алгоритмы оптимизации</a:t>
            </a:r>
          </a:p>
        </p:txBody>
      </p:sp>
      <p:sp>
        <p:nvSpPr>
          <p:cNvPr id="17" name="TextBox 16"/>
          <p:cNvSpPr txBox="1"/>
          <p:nvPr/>
        </p:nvSpPr>
        <p:spPr>
          <a:xfrm>
            <a:off x="6788496" y="2977455"/>
            <a:ext cx="1448723" cy="217752"/>
          </a:xfrm>
          <a:prstGeom prst="rect">
            <a:avLst/>
          </a:prstGeom>
          <a:noFill/>
          <a:ln>
            <a:noFill/>
          </a:ln>
          <a:effectLst>
            <a:outerShdw>
              <a:srgbClr val="000000">
                <a:alpha val="0"/>
              </a:srgbClr>
            </a:outerShdw>
          </a:effectLst>
        </p:spPr>
        <p:txBody>
          <a:bodyPr wrap="square" lIns="0" tIns="0" rIns="0" bIns="0">
            <a:spAutoFit/>
          </a:bodyPr>
          <a:lstStyle/>
          <a:p>
            <a:pPr>
              <a:lnSpc>
                <a:spcPct val="112000"/>
              </a:lnSpc>
              <a:defRPr sz="1335" b="0" i="0">
                <a:solidFill>
                  <a:srgbClr val="EFF5F1"/>
                </a:solidFill>
                <a:latin typeface="Instrument Sans"/>
              </a:defRPr>
            </a:pPr>
            <a:r>
              <a:rPr sz="1335" b="0" i="0" dirty="0" err="1">
                <a:solidFill>
                  <a:srgbClr val="EFF5F1"/>
                </a:solidFill>
                <a:latin typeface="Instrument Sans"/>
              </a:rPr>
              <a:t>Форматы</a:t>
            </a:r>
            <a:r>
              <a:rPr sz="1335" b="0" i="0" dirty="0">
                <a:solidFill>
                  <a:srgbClr val="EFF5F1"/>
                </a:solidFill>
                <a:latin typeface="Instrument Sans"/>
              </a:rPr>
              <a:t> </a:t>
            </a:r>
            <a:r>
              <a:rPr sz="1335" b="0" i="0" dirty="0" err="1">
                <a:solidFill>
                  <a:srgbClr val="EFF5F1"/>
                </a:solidFill>
                <a:latin typeface="Instrument Sans"/>
              </a:rPr>
              <a:t>вывода</a:t>
            </a:r>
            <a:endParaRPr sz="1335" b="0" i="0" dirty="0">
              <a:solidFill>
                <a:srgbClr val="EFF5F1"/>
              </a:solidFill>
              <a:latin typeface="Instrument Sans"/>
            </a:endParaRPr>
          </a:p>
        </p:txBody>
      </p:sp>
      <p:sp>
        <p:nvSpPr>
          <p:cNvPr id="18" name="TextBox 17"/>
          <p:cNvSpPr txBox="1"/>
          <p:nvPr/>
        </p:nvSpPr>
        <p:spPr>
          <a:xfrm>
            <a:off x="9496425" y="1331565"/>
            <a:ext cx="1224706" cy="200025"/>
          </a:xfrm>
          <a:prstGeom prst="rect">
            <a:avLst/>
          </a:prstGeom>
          <a:noFill/>
          <a:ln>
            <a:noFill/>
          </a:ln>
          <a:effectLst>
            <a:outerShdw>
              <a:srgbClr val="000000">
                <a:alpha val="0"/>
              </a:srgbClr>
            </a:outerShdw>
          </a:effectLst>
        </p:spPr>
        <p:txBody>
          <a:bodyPr wrap="square" lIns="0" tIns="0" rIns="0" bIns="0">
            <a:spAutoFit/>
          </a:bodyPr>
          <a:lstStyle/>
          <a:p>
            <a:pPr>
              <a:lnSpc>
                <a:spcPct val="112000"/>
              </a:lnSpc>
              <a:defRPr sz="1335" b="0" i="0">
                <a:solidFill>
                  <a:srgbClr val="EFF5F1"/>
                </a:solidFill>
                <a:latin typeface="Instrument Sans"/>
              </a:defRPr>
            </a:pPr>
            <a:r>
              <a:rPr sz="1335" b="0" i="0">
                <a:solidFill>
                  <a:srgbClr val="EFF5F1"/>
                </a:solidFill>
                <a:latin typeface="Instrument Sans"/>
              </a:rPr>
              <a:t>Длина маршрута</a:t>
            </a:r>
          </a:p>
        </p:txBody>
      </p:sp>
      <p:sp>
        <p:nvSpPr>
          <p:cNvPr id="19" name="TextBox 18"/>
          <p:cNvSpPr txBox="1"/>
          <p:nvPr/>
        </p:nvSpPr>
        <p:spPr>
          <a:xfrm>
            <a:off x="9496425" y="4623345"/>
            <a:ext cx="1098798" cy="200025"/>
          </a:xfrm>
          <a:prstGeom prst="rect">
            <a:avLst/>
          </a:prstGeom>
          <a:noFill/>
          <a:ln>
            <a:noFill/>
          </a:ln>
          <a:effectLst>
            <a:outerShdw>
              <a:srgbClr val="000000">
                <a:alpha val="0"/>
              </a:srgbClr>
            </a:outerShdw>
          </a:effectLst>
        </p:spPr>
        <p:txBody>
          <a:bodyPr wrap="square" lIns="0" tIns="0" rIns="0" bIns="0">
            <a:spAutoFit/>
          </a:bodyPr>
          <a:lstStyle/>
          <a:p>
            <a:pPr>
              <a:lnSpc>
                <a:spcPct val="112000"/>
              </a:lnSpc>
              <a:defRPr sz="1335" b="0" i="0">
                <a:solidFill>
                  <a:srgbClr val="EFF5F1"/>
                </a:solidFill>
                <a:latin typeface="Instrument Sans"/>
              </a:defRPr>
            </a:pPr>
            <a:r>
              <a:rPr sz="1335" b="0" i="0">
                <a:solidFill>
                  <a:srgbClr val="EFF5F1"/>
                </a:solidFill>
                <a:latin typeface="Instrument Sans"/>
              </a:rPr>
              <a:t>Расход батареи</a:t>
            </a:r>
          </a:p>
        </p:txBody>
      </p:sp>
      <p:sp>
        <p:nvSpPr>
          <p:cNvPr id="20" name="TextBox 19"/>
          <p:cNvSpPr txBox="1"/>
          <p:nvPr/>
        </p:nvSpPr>
        <p:spPr>
          <a:xfrm>
            <a:off x="9496425" y="2977455"/>
            <a:ext cx="995362" cy="200025"/>
          </a:xfrm>
          <a:prstGeom prst="rect">
            <a:avLst/>
          </a:prstGeom>
          <a:noFill/>
          <a:ln>
            <a:noFill/>
          </a:ln>
          <a:effectLst>
            <a:outerShdw>
              <a:srgbClr val="000000">
                <a:alpha val="0"/>
              </a:srgbClr>
            </a:outerShdw>
          </a:effectLst>
        </p:spPr>
        <p:txBody>
          <a:bodyPr wrap="square" lIns="0" tIns="0" rIns="0" bIns="0">
            <a:spAutoFit/>
          </a:bodyPr>
          <a:lstStyle/>
          <a:p>
            <a:pPr>
              <a:lnSpc>
                <a:spcPct val="112000"/>
              </a:lnSpc>
              <a:defRPr sz="1335" b="0" i="0">
                <a:solidFill>
                  <a:srgbClr val="EFF5F1"/>
                </a:solidFill>
                <a:latin typeface="Instrument Sans"/>
              </a:defRPr>
            </a:pPr>
            <a:r>
              <a:rPr sz="1335" b="0" i="0">
                <a:solidFill>
                  <a:srgbClr val="EFF5F1"/>
                </a:solidFill>
                <a:latin typeface="Instrument Sans"/>
              </a:rPr>
              <a:t>Время полёта</a:t>
            </a:r>
          </a:p>
        </p:txBody>
      </p:sp>
      <p:sp>
        <p:nvSpPr>
          <p:cNvPr id="21" name="TextBox 20"/>
          <p:cNvSpPr txBox="1"/>
          <p:nvPr/>
        </p:nvSpPr>
        <p:spPr>
          <a:xfrm>
            <a:off x="6788497" y="4623345"/>
            <a:ext cx="751284" cy="200025"/>
          </a:xfrm>
          <a:prstGeom prst="rect">
            <a:avLst/>
          </a:prstGeom>
          <a:noFill/>
          <a:ln>
            <a:noFill/>
          </a:ln>
          <a:effectLst>
            <a:outerShdw>
              <a:srgbClr val="000000">
                <a:alpha val="0"/>
              </a:srgbClr>
            </a:outerShdw>
          </a:effectLst>
        </p:spPr>
        <p:txBody>
          <a:bodyPr wrap="square" lIns="0" tIns="0" rIns="0" bIns="0">
            <a:spAutoFit/>
          </a:bodyPr>
          <a:lstStyle/>
          <a:p>
            <a:pPr>
              <a:lnSpc>
                <a:spcPct val="112000"/>
              </a:lnSpc>
              <a:defRPr sz="1335" b="0" i="0">
                <a:solidFill>
                  <a:srgbClr val="EFF5F1"/>
                </a:solidFill>
                <a:latin typeface="Instrument Sans"/>
              </a:defRPr>
            </a:pPr>
            <a:r>
              <a:rPr sz="1335" b="0" i="0">
                <a:solidFill>
                  <a:srgbClr val="EFF5F1"/>
                </a:solidFill>
                <a:latin typeface="Instrument Sans"/>
              </a:rPr>
              <a:t>REST API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1303</Words>
  <Application>Microsoft Office PowerPoint</Application>
  <PresentationFormat>Широкоэкранный</PresentationFormat>
  <Paragraphs>127</Paragraphs>
  <Slides>10</Slides>
  <Notes>10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10</vt:i4>
      </vt:variant>
    </vt:vector>
  </HeadingPairs>
  <TitlesOfParts>
    <vt:vector size="15" baseType="lpstr">
      <vt:lpstr>Arial</vt:lpstr>
      <vt:lpstr>Calibri</vt:lpstr>
      <vt:lpstr>Instrument Sans</vt:lpstr>
      <vt:lpstr>Montserrat</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Lumi</cp:lastModifiedBy>
  <cp:revision>4</cp:revision>
  <dcterms:created xsi:type="dcterms:W3CDTF">2013-01-27T09:14:16Z</dcterms:created>
  <dcterms:modified xsi:type="dcterms:W3CDTF">2026-06-16T11:53:46Z</dcterms:modified>
  <cp:category/>
</cp:coreProperties>
</file>